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3" r:id="rId14"/>
    <p:sldId id="274" r:id="rId15"/>
    <p:sldId id="271" r:id="rId16"/>
    <p:sldId id="275" r:id="rId17"/>
    <p:sldId id="276" r:id="rId18"/>
    <p:sldId id="270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5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各位老师好，我们汇报的项目是 BioNote，一款面向高校实验场景的轻量化电子实验记录助手。它来源于与一位生物专业同学的真实合作，目标不是再做一个简单的记录工具，而是围绕实验协作、审核责任、版本追溯、安全恢复和可信智能辅助，建立一个完整的软件工程闭环。接下来用十五分钟，按需求、功能、架构、质量和管理这条工程主线向各位老师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本次答辩分为五个部分。第一部分讲需求工程与产品定位，说明项目从哪里来、解决什么问题。第二部分介绍系统功能和三个最有代表性的特色设计。第三部分展开软件架构，包括总体架构、Agent 架构、前后端视图，以及接口设计和设计模式。第四部分是关键技术和测试体系。最后是项目管理、团队协同和总结。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特殊之处在于，它是被真实使用者一路推着走的。合作的生物专业同学提供真实实验场景、业务想法和实验数据，每一轮迭代之后，都会从设计思路和使用体验两个角度提出修改意见。从这些真实场景中，我们归纳出四类痛点：实验资料分散在文档、聊天软件和本地文件夹里难以组织；记录格式不统一，容易遗漏关键信息；小组协作缺少职责、审核和追溯机制；完成的实验难以搜索复用。这四条痛点，就是后面所有设计决策的来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在动手之前，我们系统研究了专业工具 Benchling。它以项目和条目组织实验资料，在模板、权限、协作和数据追踪上很成熟，尤其是版本管理和审计思想，直接启发了我们的设计。但它对本科教学实验来说太复杂，学习成本高，部分能力还依赖付费账号，中文和国内教学场景也不是它的目标。因此我们的取舍是：吸收它的版本与审计思想，面向高校学生实验、课程设计和初级科研训练，做一个轻量、可复现、支持结构化模板的实验记录助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围绕这个定位，BioNote 提供七项能力，覆盖实验记录的全生命周期。项目协作负责建项目和分配角色；实验记录用结构化模板和富文本承载内容；审核流程用状态机控制编辑权限；版本管理保存不可变历史并支持对比和恢复；安全与审计提供角色权限、对象级访问控制和操作日志；智能辅助让 Agent 通过只读工具产出带证据的分析；数据分析扩展支持读取表格数据做曲线拟合和图表展示。接下来重点讲其中三个特色。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特色是把权限、审核和状态机深度绑定。一条实验记录的生命周期是：编辑中、审核中、退回修改、审核通过。审核中内容和附件会被冻结，防止审核期间被改动；审核通过后永久只读，形成稳定的实验成果。所有"谁能不能操作"的判断，都集中在 RecordActionPolicy 一个策略类里，综合用户角色、成员关系、记录状态、是否创建者和操作类型五个因素。项目负责人能管项目，却不能随意改别人的记录；只有指定审核人才能给出审核结论。这样每条记录都有清晰的责任边界。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第二个特色是借鉴 Git 的版本治理思想，并做了领域化改造。每次提交或恢复都会生成不可变的快照，历史永远不会被覆盖。项目时间线把创建、提交、审核、恢复和 Agent 分析这些关键事件聚合在一起。对比任意两个版本时，Diff 不只是比文本，还能识别标题、结构化字段、富文本块和附件的增删改。恢复历史版本时，系统先展示预览和差异，用户确认后才修改当前工作副本，而不是删除后续历史。这就让实验过程真正可追溯、可复现。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第三个特色是 Agent Harness。大模型本身是不可控的，我们的思路是用工程手段把它约束起来：它只能调用注册过的白名单只读工具；每次调用都重新校验当前用户的权限；参数和输出必须满足预定义结构；关键结论必须引用系统里真实存在的数据作为证据；整个执行过程有追踪记录，还能回放复核；运行时由数据库队列、超时和配额限制。在此基础上我们还扩展了实验数据拟合工具库，支持线性、多项式、米氏、Logistic 等七种拟合模型，让 Agent 能直接帮同学分析实验数据并出图。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下面进入架构部分。总体上，BioNote 是前后端分离的模块化架构：前端用 React 负责展示和交互，后端用 Spring Boot 承载业务规则、权限、安全、事务和数据访问，数据库用 MySQL 并以 Flyway 做迁移管理。特别说明的是，Agent Runtime 不是一个外挂服务，而是后端里的独立业务模块，统一通过 OpenAI 兼容接口接入外部模型，模型供应商可以随时替换。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这张是 Agent 架构的运行管线。用户发起一次分析，Run API 先把任务写进数据库队列，请求立刻返回；后台的 Worker 取出任务，驱动 Harness 主循环，由规划器、模型客户端、工具注册与执行器、校验器和追踪记录器协同工作；最终结果固化为 Artifact。异步队列的设计让长时间运行的分析不阻塞主流程，而且每一步都有记录、可以回放。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后端按业务包组织，认证、项目、记录、版本、恢复、Agent 各自独立。层次上分四段：Controller 只做协议转换，UseCase 表达应用入口，Service 承担权限、状态、事务和业务规则，Store 接口隔离持久化，JPA、JDBC、文件和外部模型都在基础设施层以适配器实现。数据库结构从第一版到第十三版全部由 Flyway 迁移脚本管理，演化过程本身就是可追溯的。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这一页是我们在接口设计上的核心思路：输入输出两侧都以接口为边界。输入侧，Controller 依赖 UseCase 接口，业务规则全部收在业务层。输出侧，Service 通过自己定义的 Store 接口访问数据，JPA 只是这个接口的一种实现。Agent 内部同样如此：模型客户端用策略加适配器隔离供应商，工具是标准的扩展接口，结果校验器与主循环解耦。所以新增一个模型、一个工具或一种校验，都不需要改动主流程。这就是适配器模式和状态模式思想在项目里的落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接下来用四页把关键技术讲透。第一是认证与授权。我们把"已经登录"和"有权操作这个具体对象"分开处理：身份由无状态 JWT 恢复，密码用 BCrypt 存储，Controller 只相信安全上下文里的用户标识，绝不信任客户端提交的操作者参数。真正的授权由后端按业务上下文计算：角色提供边界，成员关系、资源所有权和审核人身份继续限制到具体对象，防止同角色用户横向越权。状态机决定每个状态下能做什么，前端只展示后端下发的能力列表，每次接口调用仍然重新授权。对不可见资源，统一返回"不存在或无权访问"，连枚举探测的空间都不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第二是版本模型。系统把持续编辑的工作副本和用于审核追溯的不可变版本分开：自动保存只更新工作副本，只有提交审核才固化出 R1、R2 这样的版本，所以每条审核意见都指向确定内容。为了让版本可比较，快照先经过规范化整理，把固定字段、模板字段、正文块、附件和审核元数据排成稳定结构，再计算内容指纹，用来判断真实变化。对比时不是简单比文本：字段按键对齐，附件按标识做集合比较，块内文本用最长公共子序列算法，输出相等、插入、删除三类操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是恢复与并发一致性。恢复历史版本是高风险写操作，我们的原则是：恢复不是删除历史，而是用历史版本重建新的工作副本。整个过程分两个阶段：预览阶段重新鉴权、校验版本、计算差异和附件计划，然后签发一个五分钟有效的签名令牌，把用户、记录、来源版本、前后内容指纹全部绑进去；执行阶段验证令牌、拿行锁、再次鉴权、再次核对两侧指纹，预览之后工作副本只要有任何变化，恢复就会被拒绝，避免"看见的是 A、实际覆盖了 B"。配合幂等键和整体事务，误操作、重复点击、请求重放和并发覆盖都被挡在外面。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是智能体运行时。我们没有让大模型直接连接数据库，而是用运行框架把它包围起来：任务进数据库队列后异步执行，状态只能按合法路径迁移；模型接口统一，离线时用假模型做确定性测试；工具系统只注册只读工具，每次调用都经过白名单、参数校验和当次授权；运行时长、模型次数、步骤数都有预算上限，取消、超时、参数非法各有独立失败状态，绝不包装成成功；最终结果先过结构校验，再过证据校验，引用的项目、记录、审核必须真实存在；追踪记录只保存脱敏摘要，结果写入和状态置为成功在同一个事务里完成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这些设计，还需要验证它们真的成立。我们建了五层质量保障体系：每轮迭代做软件评审，结合真实用户反馈；单元、组件和集成测试覆盖后端的策略、服务、适配器和前端的组件交互；接口与架构测试自动检查分层边界，控制器只能依赖接口，SQL 不能越过基础设施层；系统测试用八个端到端场景覆盖认证授权、审核流程、并发冲突、幂等控制、版本对比与恢复，以及智能体的失败处理；最后是多浏览器兼容性与界面测试。其中架构测试的意义在于，让架构约束自动化，防止约定在迭代中慢慢退化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管理上，我们也踩过坑。项目初期文档粒度不一致、任务边界重叠、集成时冲突很多。复盘之后形成四条机制：增量迭代，每轮都交付可运行版本；契约优先，先定公共数据结构和接口再并行开发；合并责任制，高冲突模块设主负责人，小步合并；以及明确的完成标准，每个模块交付都要包含实现、迁移、测试和演示步骤。最深的体会是：真实需求必须靠可运行版本验证；协作问题要靠机制而不是多沟通；高风险功能必须测异常路径；架构约束要尽量自动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最后做个总结。BioNote 不是一个简单的实验记录增删改查系统，它由真实使用者的需求驱动，围绕实验协作、审核责任、版本追溯、安全恢复和可信智能辅助展开，并且在需求工程、接口设计、设计模式、测试验证和团队协同五个方面形成了完整的工程闭环。以上是我们的全部汇报，恳请各位老师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34E4A"/>
                </a:gs>
                <a:gs pos="100000">
                  <a:srgbClr val="0F766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905750" y="952500"/>
            <a:ext cx="4381500" cy="4381500"/>
            <a:chOff x="7905750" y="952500"/>
            <a:chExt cx="4381500" cy="4381500"/>
          </a:xfrm>
        </p:grpSpPr>
        <p:sp>
          <p:nvSpPr>
            <p:cNvPr id="5" name="Ellipse 5"/>
            <p:cNvSpPr/>
            <p:nvPr/>
          </p:nvSpPr>
          <p:spPr>
            <a:xfrm>
              <a:off x="7905750" y="95250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477250" y="1524000"/>
              <a:ext cx="3238500" cy="32385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  <a:custDash>
                <a:ds d="4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9048750" y="2095500"/>
              <a:ext cx="2095500" cy="2095500"/>
            </a:xfrm>
            <a:prstGeom prst="ellipse">
              <a:avLst/>
            </a:prstGeom>
            <a:noFill/>
            <a:ln w="9525">
              <a:solidFill>
                <a:srgbClr val="FFFFFF">
                  <a:alpha val="8000"/>
                </a:srgb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12486" y="2428875"/>
              <a:ext cx="968029" cy="1428750"/>
              <a:chOff x="9612486" y="2428875"/>
              <a:chExt cx="968029" cy="1428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858375" y="242887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37750" y="2905125"/>
                <a:ext cx="31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9525">
                    <a:moveTo>
                      <a:pt x="0" y="0"/>
                    </a:moveTo>
                    <a:lnTo>
                      <a:pt x="317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12486" y="2428875"/>
                <a:ext cx="968029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968029" h="1428750">
                    <a:moveTo>
                      <a:pt x="325264" y="0"/>
                    </a:moveTo>
                    <a:lnTo>
                      <a:pt x="325264" y="476250"/>
                    </a:lnTo>
                    <a:lnTo>
                      <a:pt x="7764" y="1349375"/>
                    </a:lnTo>
                    <a:cubicBezTo>
                      <a:pt x="0" y="1364995"/>
                      <a:pt x="21" y="1383354"/>
                      <a:pt x="7822" y="1398955"/>
                    </a:cubicBezTo>
                    <a:cubicBezTo>
                      <a:pt x="15623" y="1414557"/>
                      <a:pt x="30297" y="1425590"/>
                      <a:pt x="47452" y="1428750"/>
                    </a:cubicBezTo>
                    <a:lnTo>
                      <a:pt x="920577" y="1428750"/>
                    </a:lnTo>
                    <a:cubicBezTo>
                      <a:pt x="937731" y="1425590"/>
                      <a:pt x="952406" y="1414557"/>
                      <a:pt x="960206" y="1398955"/>
                    </a:cubicBezTo>
                    <a:cubicBezTo>
                      <a:pt x="968007" y="1383354"/>
                      <a:pt x="968029" y="1364995"/>
                      <a:pt x="960264" y="1349375"/>
                    </a:cubicBezTo>
                    <a:lnTo>
                      <a:pt x="642764" y="476250"/>
                    </a:lnTo>
                    <a:lnTo>
                      <a:pt x="64276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</p:grpSp>
      <p:grpSp>
        <p:nvGrpSpPr>
          <p:cNvPr id="19" name="Group 19"/>
          <p:cNvGrpSpPr/>
          <p:nvPr/>
        </p:nvGrpSpPr>
        <p:grpSpPr>
          <a:xfrm>
            <a:off x="832273" y="645319"/>
            <a:ext cx="10800609" cy="311943"/>
            <a:chOff x="832273" y="645319"/>
            <a:chExt cx="10800609" cy="311943"/>
          </a:xfrm>
        </p:grpSpPr>
        <p:grpSp>
          <p:nvGrpSpPr>
            <p:cNvPr id="16" name="Group 16"/>
            <p:cNvGrpSpPr/>
            <p:nvPr/>
          </p:nvGrpSpPr>
          <p:grpSpPr>
            <a:xfrm>
              <a:off x="832273" y="645319"/>
              <a:ext cx="145204" cy="214312"/>
              <a:chOff x="832273" y="645319"/>
              <a:chExt cx="145204" cy="2143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9156" y="645319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81062" y="716756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2273" y="645319"/>
                <a:ext cx="145204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5204" h="214312">
                    <a:moveTo>
                      <a:pt x="48790" y="0"/>
                    </a:moveTo>
                    <a:lnTo>
                      <a:pt x="48790" y="71438"/>
                    </a:lnTo>
                    <a:lnTo>
                      <a:pt x="1165" y="202406"/>
                    </a:lnTo>
                    <a:cubicBezTo>
                      <a:pt x="0" y="204749"/>
                      <a:pt x="3" y="207503"/>
                      <a:pt x="1173" y="209843"/>
                    </a:cubicBezTo>
                    <a:cubicBezTo>
                      <a:pt x="2343" y="212184"/>
                      <a:pt x="4545" y="213838"/>
                      <a:pt x="7118" y="214312"/>
                    </a:cubicBezTo>
                    <a:lnTo>
                      <a:pt x="138087" y="214312"/>
                    </a:lnTo>
                    <a:cubicBezTo>
                      <a:pt x="140660" y="213838"/>
                      <a:pt x="142861" y="212184"/>
                      <a:pt x="144031" y="209843"/>
                    </a:cubicBezTo>
                    <a:cubicBezTo>
                      <a:pt x="145201" y="207503"/>
                      <a:pt x="145204" y="204749"/>
                      <a:pt x="144040" y="202406"/>
                    </a:cubicBezTo>
                    <a:lnTo>
                      <a:pt x="96415" y="71438"/>
                    </a:lnTo>
                    <a:lnTo>
                      <a:pt x="9641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44905" y="682942"/>
              <a:ext cx="714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BioNote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43509" y="723424"/>
              <a:ext cx="8893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FFFFFF">
                      <a:alphaMod val="65000"/>
                    </a:srgbClr>
                  </a:solidFill>
                  <a:latin typeface="Segoe UI"/>
                  <a:ea typeface="Microsoft YaHei"/>
                  <a:cs typeface="Segoe UI"/>
                </a:rPr>
                <a:t>FINAL DEFENSE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0080" y="2719864"/>
            <a:ext cx="3494456" cy="1642586"/>
            <a:chOff x="640080" y="2719864"/>
            <a:chExt cx="3494456" cy="1642586"/>
          </a:xfrm>
        </p:grpSpPr>
        <p:sp>
          <p:nvSpPr>
            <p:cNvPr id="20" name="TextBox 20"/>
            <p:cNvSpPr txBox="1"/>
            <p:nvPr/>
          </p:nvSpPr>
          <p:spPr>
            <a:xfrm>
              <a:off x="745808" y="2719864"/>
              <a:ext cx="65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75" b="1" dirty="0">
                <a:solidFill>
                  <a:srgbClr val="D97706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080" y="3021330"/>
              <a:ext cx="3494456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BioNote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7712" y="4126706"/>
              <a:ext cx="28414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LIGHTWEIGHT ELECTRONIC LAB NOTEBOOK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6282" y="4629150"/>
            <a:ext cx="5722144" cy="969526"/>
            <a:chOff x="736282" y="4629150"/>
            <a:chExt cx="5722144" cy="969526"/>
          </a:xfrm>
        </p:grpSpPr>
        <p:sp>
          <p:nvSpPr>
            <p:cNvPr id="24" name="Rectangle 24"/>
            <p:cNvSpPr/>
            <p:nvPr/>
          </p:nvSpPr>
          <p:spPr>
            <a:xfrm>
              <a:off x="781050" y="4629150"/>
              <a:ext cx="609600" cy="476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6282" y="4886801"/>
              <a:ext cx="572214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面向高校实验场景的轻量化电子实验记录助手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6760" y="541401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FFFFFF">
                    <a:alphaMod val="75000"/>
                  </a:srgbClr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28" name="Line 28"/>
          <p:cNvSpPr/>
          <p:nvPr/>
        </p:nvSpPr>
        <p:spPr>
          <a:xfrm>
            <a:off x="762000" y="60579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10" name="Group 10"/>
          <p:cNvGrpSpPr/>
          <p:nvPr/>
        </p:nvGrpSpPr>
        <p:grpSpPr>
          <a:xfrm>
            <a:off x="762000" y="533400"/>
            <a:ext cx="9906031" cy="657225"/>
            <a:chOff x="762000" y="533400"/>
            <a:chExt cx="9906031" cy="657225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8215" y="5819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9170" y="1007745"/>
              <a:ext cx="32173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CONTENTS · 答辩主线：需求 → 功能 → 架构 → 质量 → 管理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667967" y="576262"/>
              <a:ext cx="64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275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11" name="Line 11"/>
          <p:cNvSpPr/>
          <p:nvPr/>
        </p:nvSpPr>
        <p:spPr>
          <a:xfrm>
            <a:off x="762000" y="1428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DCE4E2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238250" y="2038350"/>
            <a:ext cx="9525" cy="3943350"/>
            <a:chOff x="1238250" y="2038350"/>
            <a:chExt cx="9525" cy="3943350"/>
          </a:xfrm>
        </p:grpSpPr>
        <p:sp>
          <p:nvSpPr>
            <p:cNvPr id="12" name="Line 12"/>
            <p:cNvSpPr/>
            <p:nvPr/>
          </p:nvSpPr>
          <p:spPr>
            <a:xfrm>
              <a:off x="1238250" y="20383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28575" cap="rnd">
              <a:gradFill>
                <a:gsLst>
                  <a:gs pos="0">
                    <a:srgbClr val="0F766E"/>
                  </a:gs>
                  <a:gs pos="100000">
                    <a:srgbClr val="0E7490"/>
                  </a:gs>
                </a:gsLst>
                <a:lin ang="5400000" scaled="1"/>
              </a:gra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09650" y="1809750"/>
            <a:ext cx="2823901" cy="457200"/>
            <a:chOff x="1009650" y="1809750"/>
            <a:chExt cx="2823901" cy="457200"/>
          </a:xfrm>
        </p:grpSpPr>
        <p:sp>
          <p:nvSpPr>
            <p:cNvPr id="14" name="Ellipse 14"/>
            <p:cNvSpPr/>
            <p:nvPr/>
          </p:nvSpPr>
          <p:spPr>
            <a:xfrm>
              <a:off x="1009650" y="18097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F766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7327" y="19835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8798" y="181117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需求工程与产品定位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9650" y="2705100"/>
            <a:ext cx="2823901" cy="457200"/>
            <a:chOff x="1009650" y="2705100"/>
            <a:chExt cx="2823901" cy="457200"/>
          </a:xfrm>
        </p:grpSpPr>
        <p:sp>
          <p:nvSpPr>
            <p:cNvPr id="21" name="Ellipse 21"/>
            <p:cNvSpPr/>
            <p:nvPr/>
          </p:nvSpPr>
          <p:spPr>
            <a:xfrm>
              <a:off x="1009650" y="27051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F766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327" y="28789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8798" y="270652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系统功能与三大特色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9650" y="3600450"/>
            <a:ext cx="2823901" cy="457200"/>
            <a:chOff x="1009650" y="3600450"/>
            <a:chExt cx="2823901" cy="457200"/>
          </a:xfrm>
        </p:grpSpPr>
        <p:sp>
          <p:nvSpPr>
            <p:cNvPr id="28" name="Ellipse 28"/>
            <p:cNvSpPr/>
            <p:nvPr/>
          </p:nvSpPr>
          <p:spPr>
            <a:xfrm>
              <a:off x="1009650" y="36004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F766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7327" y="37742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8798" y="360187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软件架构与工程设计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9650" y="4497229"/>
            <a:ext cx="2823901" cy="494523"/>
            <a:chOff x="1009650" y="4497229"/>
            <a:chExt cx="2823901" cy="494523"/>
          </a:xfrm>
        </p:grpSpPr>
        <p:sp>
          <p:nvSpPr>
            <p:cNvPr id="35" name="Ellipse 35"/>
            <p:cNvSpPr/>
            <p:nvPr/>
          </p:nvSpPr>
          <p:spPr>
            <a:xfrm>
              <a:off x="1009650" y="453455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327" y="46696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08798" y="449722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关键技术与质量保障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37327" y="5392579"/>
            <a:ext cx="9822488" cy="401002"/>
            <a:chOff x="1137327" y="5392579"/>
            <a:chExt cx="9822488" cy="401002"/>
          </a:xfrm>
        </p:grpSpPr>
        <p:sp>
          <p:nvSpPr>
            <p:cNvPr id="43" name="TextBox 43"/>
            <p:cNvSpPr txBox="1"/>
            <p:nvPr/>
          </p:nvSpPr>
          <p:spPr>
            <a:xfrm>
              <a:off x="1137327" y="55649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8798" y="53925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项目管理与总结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76185" y="5541645"/>
              <a:ext cx="5836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P15 – P17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085433" y="65674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  <p:sp>
        <p:nvSpPr>
          <p:cNvPr id="53" name="Ellipse 35">
            <a:extLst>
              <a:ext uri="{FF2B5EF4-FFF2-40B4-BE49-F238E27FC236}">
                <a16:creationId xmlns:a16="http://schemas.microsoft.com/office/drawing/2014/main" id="{2CEE11FA-D278-94A4-E902-D38DCBD96D0C}"/>
              </a:ext>
            </a:extLst>
          </p:cNvPr>
          <p:cNvSpPr/>
          <p:nvPr/>
        </p:nvSpPr>
        <p:spPr>
          <a:xfrm>
            <a:off x="1009722" y="5397802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766E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7" name="TextBox 36">
            <a:extLst>
              <a:ext uri="{FF2B5EF4-FFF2-40B4-BE49-F238E27FC236}">
                <a16:creationId xmlns:a16="http://schemas.microsoft.com/office/drawing/2014/main" id="{9CB2A974-2950-B8FA-9F22-470EFC5F566B}"/>
              </a:ext>
            </a:extLst>
          </p:cNvPr>
          <p:cNvSpPr txBox="1"/>
          <p:nvPr/>
        </p:nvSpPr>
        <p:spPr>
          <a:xfrm>
            <a:off x="1148828" y="5552599"/>
            <a:ext cx="166712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rPr>
              <a:t>0</a:t>
            </a:r>
            <a:r>
              <a:rPr lang="en-US" altLang="zh-CN" sz="1125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rPr>
              <a:t>5</a:t>
            </a:r>
            <a:endParaRPr lang="zh-CN" sz="1125" b="1" dirty="0">
              <a:solidFill>
                <a:srgbClr val="0F766E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4" grpId="0"/>
      <p:bldP spid="41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137" y="306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2892504" cy="692467"/>
            <a:chOff x="504825" y="379095"/>
            <a:chExt cx="2892504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01 · 需求工程与产品定位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项目来源与需求痛点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238250"/>
            <a:ext cx="11125200" cy="990600"/>
            <a:chOff x="533400" y="1238250"/>
            <a:chExt cx="11125200" cy="9906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11125200" cy="990600"/>
            </a:xfrm>
            <a:prstGeom prst="roundRect">
              <a:avLst>
                <a:gd name="adj" fmla="val 11538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98106" y="1547812"/>
              <a:ext cx="251687" cy="371475"/>
              <a:chOff x="998106" y="1547812"/>
              <a:chExt cx="251687" cy="3714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62038" y="1547812"/>
                <a:ext cx="123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525">
                    <a:moveTo>
                      <a:pt x="0" y="0"/>
                    </a:move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675" y="1671638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8106" y="1547812"/>
                <a:ext cx="251687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251687" h="371475">
                    <a:moveTo>
                      <a:pt x="84569" y="0"/>
                    </a:moveTo>
                    <a:lnTo>
                      <a:pt x="84569" y="123825"/>
                    </a:lnTo>
                    <a:lnTo>
                      <a:pt x="2019" y="350837"/>
                    </a:lnTo>
                    <a:cubicBezTo>
                      <a:pt x="0" y="354899"/>
                      <a:pt x="6" y="359672"/>
                      <a:pt x="2034" y="363728"/>
                    </a:cubicBezTo>
                    <a:cubicBezTo>
                      <a:pt x="4062" y="367785"/>
                      <a:pt x="7877" y="370653"/>
                      <a:pt x="12337" y="371475"/>
                    </a:cubicBezTo>
                    <a:lnTo>
                      <a:pt x="239350" y="371475"/>
                    </a:lnTo>
                    <a:cubicBezTo>
                      <a:pt x="243810" y="370653"/>
                      <a:pt x="247625" y="367785"/>
                      <a:pt x="249654" y="363728"/>
                    </a:cubicBezTo>
                    <a:cubicBezTo>
                      <a:pt x="251682" y="359672"/>
                      <a:pt x="251687" y="354899"/>
                      <a:pt x="249669" y="350837"/>
                    </a:cubicBezTo>
                    <a:lnTo>
                      <a:pt x="167119" y="123825"/>
                    </a:lnTo>
                    <a:lnTo>
                      <a:pt x="167119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22108" y="1424464"/>
              <a:ext cx="21746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真实使用者驱动的合作模式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5441" y="1719501"/>
              <a:ext cx="880181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与友校生物专业同学合作：对方提供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真实实验场景、业务想法、实验数据与迭代反馈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，开发团队负责需求分析、产品设计、技术实现、测试与交付；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5441" y="1948101"/>
              <a:ext cx="4414670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每轮迭代后，由真实使用者从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设计思路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使用体验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两个角度提出修改意见。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2457450"/>
            <a:ext cx="5448300" cy="1733550"/>
            <a:chOff x="533400" y="2457450"/>
            <a:chExt cx="5448300" cy="1733550"/>
          </a:xfrm>
        </p:grpSpPr>
        <p:sp>
          <p:nvSpPr>
            <p:cNvPr id="17" name="Rectangle 17"/>
            <p:cNvSpPr/>
            <p:nvPr/>
          </p:nvSpPr>
          <p:spPr>
            <a:xfrm>
              <a:off x="533400" y="2457450"/>
              <a:ext cx="5448300" cy="1733550"/>
            </a:xfrm>
            <a:prstGeom prst="roundRect">
              <a:avLst>
                <a:gd name="adj" fmla="val 659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26726" y="2596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DC2626">
                      <a:alphaMod val="10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" y="2705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28688" y="284480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2"/>
                  </a:cubicBezTo>
                  <a:lnTo>
                    <a:pt x="200025" y="144462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2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11605" y="2768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资料分散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3372802"/>
              <a:ext cx="3205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实验资料分散在 Word、聊天软件、本地文件夹中，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36204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难以统一组织与归档。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2457450"/>
            <a:ext cx="5448300" cy="1733550"/>
            <a:chOff x="6210300" y="2457450"/>
            <a:chExt cx="5448300" cy="1733550"/>
          </a:xfrm>
        </p:grpSpPr>
        <p:sp>
          <p:nvSpPr>
            <p:cNvPr id="26" name="Rectangle 26"/>
            <p:cNvSpPr/>
            <p:nvPr/>
          </p:nvSpPr>
          <p:spPr>
            <a:xfrm>
              <a:off x="6210300" y="2457450"/>
              <a:ext cx="5448300" cy="1733550"/>
            </a:xfrm>
            <a:prstGeom prst="roundRect">
              <a:avLst>
                <a:gd name="adj" fmla="val 659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803626" y="2596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DC2626">
                      <a:alphaMod val="10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705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27812" y="2833688"/>
              <a:ext cx="155575" cy="200025"/>
              <a:chOff x="6627812" y="2833688"/>
              <a:chExt cx="155575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27825" y="283368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2"/>
                      <a:pt x="11112" y="55562"/>
                    </a:cubicBezTo>
                    <a:lnTo>
                      <a:pt x="55562" y="55562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27812" y="283368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133350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2" y="0"/>
                    </a:lnTo>
                    <a:lnTo>
                      <a:pt x="155575" y="55562"/>
                    </a:lnTo>
                    <a:lnTo>
                      <a:pt x="155575" y="177800"/>
                    </a:lnTo>
                    <a:cubicBezTo>
                      <a:pt x="155575" y="190075"/>
                      <a:pt x="145625" y="200025"/>
                      <a:pt x="133350" y="2000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72262" y="298926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72262" y="29448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088505" y="27689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记录不规范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3665" y="33728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学生记录格式不统一，容易遗漏实验目的、过程、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3665" y="36204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结果等关键信息。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4362450"/>
            <a:ext cx="5448300" cy="1733550"/>
            <a:chOff x="533400" y="4362450"/>
            <a:chExt cx="5448300" cy="1733550"/>
          </a:xfrm>
        </p:grpSpPr>
        <p:sp>
          <p:nvSpPr>
            <p:cNvPr id="39" name="Rectangle 39"/>
            <p:cNvSpPr/>
            <p:nvPr/>
          </p:nvSpPr>
          <p:spPr>
            <a:xfrm>
              <a:off x="533400" y="4362450"/>
              <a:ext cx="5448300" cy="1733550"/>
            </a:xfrm>
            <a:prstGeom prst="roundRect">
              <a:avLst>
                <a:gd name="adj" fmla="val 659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26726" y="4501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DC2626">
                      <a:alphaMod val="10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0100" y="4610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28688" y="4738688"/>
              <a:ext cx="200024" cy="200025"/>
              <a:chOff x="928688" y="4738688"/>
              <a:chExt cx="200024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06475" y="48275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84250" y="4905375"/>
                <a:ext cx="8890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33338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2038" y="47386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84262" y="481647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0"/>
                    </a:moveTo>
                    <a:lnTo>
                      <a:pt x="22225" y="0"/>
                    </a:ln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33338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50912" y="47386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28688" y="481647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11605" y="46739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协作无追溯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765" y="52778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小组成员之间缺少清晰的职责、审核和修改追溯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765" y="5525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机制，出了问题无从定位。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10300" y="4362450"/>
            <a:ext cx="5448300" cy="1733550"/>
            <a:chOff x="6210300" y="4362450"/>
            <a:chExt cx="5448300" cy="1733550"/>
          </a:xfrm>
        </p:grpSpPr>
        <p:sp>
          <p:nvSpPr>
            <p:cNvPr id="54" name="Rectangle 54"/>
            <p:cNvSpPr/>
            <p:nvPr/>
          </p:nvSpPr>
          <p:spPr>
            <a:xfrm>
              <a:off x="6210300" y="4362450"/>
              <a:ext cx="5448300" cy="1733550"/>
            </a:xfrm>
            <a:prstGeom prst="roundRect">
              <a:avLst>
                <a:gd name="adj" fmla="val 659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03626" y="4501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DC2626">
                      <a:alphaMod val="10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77000" y="4610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05588" y="4738688"/>
              <a:ext cx="200025" cy="200025"/>
              <a:chOff x="6605588" y="4738688"/>
              <a:chExt cx="200025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05588" y="47386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8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38938" y="48720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088505" y="46739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成果难复用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3665" y="52778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已完成实验难以搜索、复用和整理成报告，知识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3665" y="55254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沉淀随课程结束流失。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314033" y="65674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8" grpId="0"/>
      <p:bldP spid="5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2892504" cy="692467"/>
            <a:chOff x="504825" y="379095"/>
            <a:chExt cx="2892504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01 · 需求工程与产品定位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竞品研究与产品定位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3400" y="1238250"/>
            <a:ext cx="11125200" cy="419100"/>
            <a:chOff x="533400" y="1238250"/>
            <a:chExt cx="11125200" cy="4191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5391150" cy="419100"/>
            </a:xfrm>
            <a:prstGeom prst="roundRect">
              <a:avLst>
                <a:gd name="adj" fmla="val 22727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25683" y="1375410"/>
              <a:ext cx="180658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专业工具 Benchling · </a:t>
              </a:r>
              <a:r>
                <a:rPr lang="zh-CN" altLang="en-US" sz="12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优点</a:t>
              </a:r>
              <a:endParaRPr lang="zh-CN" sz="1200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67450" y="1238250"/>
              <a:ext cx="5391150" cy="419100"/>
            </a:xfrm>
            <a:prstGeom prst="roundRect">
              <a:avLst>
                <a:gd name="adj" fmla="val 22727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1898" y="1375410"/>
              <a:ext cx="12022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C2626"/>
                  </a:solidFill>
                  <a:latin typeface="Segoe UI"/>
                  <a:ea typeface="Microsoft YaHei"/>
                  <a:cs typeface="Segoe UI"/>
                </a:rPr>
                <a:t>对教学实验 · 不足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86450" y="1809750"/>
            <a:ext cx="419100" cy="3676650"/>
            <a:chOff x="5886450" y="1809750"/>
            <a:chExt cx="419100" cy="3676650"/>
          </a:xfrm>
        </p:grpSpPr>
        <p:sp>
          <p:nvSpPr>
            <p:cNvPr id="12" name="Line 12"/>
            <p:cNvSpPr/>
            <p:nvPr/>
          </p:nvSpPr>
          <p:spPr>
            <a:xfrm>
              <a:off x="6096000" y="1809750"/>
              <a:ext cx="9525" cy="3676650"/>
            </a:xfrm>
            <a:custGeom>
              <a:avLst/>
              <a:gdLst/>
              <a:ahLst/>
              <a:cxnLst/>
              <a:rect l="l" t="t" r="r" b="b"/>
              <a:pathLst>
                <a:path w="9525" h="3676650">
                  <a:moveTo>
                    <a:pt x="0" y="0"/>
                  </a:moveTo>
                  <a:lnTo>
                    <a:pt x="0" y="3676650"/>
                  </a:lnTo>
                </a:path>
              </a:pathLst>
            </a:custGeom>
            <a:noFill/>
            <a:ln w="19050">
              <a:solidFill>
                <a:srgbClr val="DCE4E2"/>
              </a:solidFill>
              <a:custDash>
                <a:ds d="300000" sp="300000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5886450" y="34385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CE4E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08533" y="3599974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VS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14375" y="1912858"/>
            <a:ext cx="3901250" cy="3190161"/>
            <a:chOff x="714375" y="1912858"/>
            <a:chExt cx="3901250" cy="3190161"/>
          </a:xfrm>
        </p:grpSpPr>
        <p:grpSp>
          <p:nvGrpSpPr>
            <p:cNvPr id="21" name="Group 21"/>
            <p:cNvGrpSpPr/>
            <p:nvPr/>
          </p:nvGrpSpPr>
          <p:grpSpPr>
            <a:xfrm>
              <a:off x="714375" y="1912858"/>
              <a:ext cx="3901250" cy="446961"/>
              <a:chOff x="714375" y="1912858"/>
              <a:chExt cx="3901250" cy="446961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714375" y="1971675"/>
                <a:ext cx="171450" cy="171450"/>
                <a:chOff x="714375" y="1971675"/>
                <a:chExt cx="1714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714375" y="19716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71525" y="20383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52036" y="1912858"/>
                <a:ext cx="3252380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以 Project + Notebook Entry 组织实验资料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54418" y="2161699"/>
                <a:ext cx="35612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层次清晰的实验资料组织结构，是 BioNote 项目模型的参照。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14375" y="2827258"/>
              <a:ext cx="3225166" cy="446961"/>
              <a:chOff x="714375" y="2827258"/>
              <a:chExt cx="3225166" cy="446961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714375" y="2886075"/>
                <a:ext cx="171450" cy="171450"/>
                <a:chOff x="714375" y="2886075"/>
                <a:chExt cx="171450" cy="1714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" y="2886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771525" y="29527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052036" y="2827258"/>
                <a:ext cx="2796623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强调模板、权限、团队协作与数据追踪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54418" y="3076099"/>
                <a:ext cx="2885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印证了协作与追踪能力在实验场景中的核心价值。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14375" y="3741658"/>
              <a:ext cx="3576209" cy="446961"/>
              <a:chOff x="714375" y="3741658"/>
              <a:chExt cx="3576209" cy="446961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714375" y="3800475"/>
                <a:ext cx="171450" cy="171450"/>
                <a:chOff x="714375" y="3800475"/>
                <a:chExt cx="171450" cy="17145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714375" y="38004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71525" y="38671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052036" y="3741658"/>
                <a:ext cx="1982772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成熟的版本管理与审计思想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54418" y="3990499"/>
                <a:ext cx="32361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直接启发了 BioNote 的 Revision 治理与操作日志设计。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14375" y="4656058"/>
              <a:ext cx="3485198" cy="446961"/>
              <a:chOff x="714375" y="4656058"/>
              <a:chExt cx="3485198" cy="446961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714375" y="4714875"/>
                <a:ext cx="171450" cy="171450"/>
                <a:chOff x="714375" y="4714875"/>
                <a:chExt cx="171450" cy="17145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14375" y="47148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71525" y="47815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059669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052036" y="4656058"/>
                <a:ext cx="1820001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对生命科学领域适配度高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54418" y="4904899"/>
                <a:ext cx="31451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领域化设计思路值得学习，而非通用工具的简单照搬。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6448425" y="1912858"/>
            <a:ext cx="3355182" cy="3190161"/>
            <a:chOff x="6448425" y="1912858"/>
            <a:chExt cx="3355182" cy="3190161"/>
          </a:xfrm>
        </p:grpSpPr>
        <p:grpSp>
          <p:nvGrpSpPr>
            <p:cNvPr id="47" name="Group 47"/>
            <p:cNvGrpSpPr/>
            <p:nvPr/>
          </p:nvGrpSpPr>
          <p:grpSpPr>
            <a:xfrm>
              <a:off x="6448425" y="1912858"/>
              <a:ext cx="3355182" cy="446961"/>
              <a:chOff x="6448425" y="1912858"/>
              <a:chExt cx="3355182" cy="44696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448425" y="1971675"/>
                <a:ext cx="171450" cy="171450"/>
                <a:chOff x="6448425" y="1971675"/>
                <a:chExt cx="171450" cy="1714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448425" y="19716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534150" y="2019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534150" y="2095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786086" y="1912858"/>
                <a:ext cx="2308312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功能复杂，初学者学习成本较高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88468" y="216169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教学场景需要的是轻量上手，而不是企业级全功能。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48425" y="2827258"/>
              <a:ext cx="3225166" cy="446961"/>
              <a:chOff x="6448425" y="2827258"/>
              <a:chExt cx="3225166" cy="446961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6448425" y="2886075"/>
                <a:ext cx="171450" cy="171450"/>
                <a:chOff x="6448425" y="2886075"/>
                <a:chExt cx="171450" cy="1714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48425" y="2886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534150" y="29337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534150" y="3009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6786086" y="2827258"/>
                <a:ext cx="1982772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企业级和专业科研能力过重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88468" y="3076099"/>
                <a:ext cx="2885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大量能力超出课程实验所需，反而形成使用负担。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448425" y="3741658"/>
              <a:ext cx="2835117" cy="446961"/>
              <a:chOff x="6448425" y="3741658"/>
              <a:chExt cx="2835117" cy="446961"/>
            </a:xfrm>
          </p:grpSpPr>
          <p:grpSp>
            <p:nvGrpSpPr>
              <p:cNvPr id="58" name="Group 58"/>
              <p:cNvGrpSpPr/>
              <p:nvPr/>
            </p:nvGrpSpPr>
            <p:grpSpPr>
              <a:xfrm>
                <a:off x="6448425" y="3800475"/>
                <a:ext cx="171450" cy="171450"/>
                <a:chOff x="6448425" y="3800475"/>
                <a:chExt cx="171450" cy="17145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448425" y="38004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534150" y="38481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534150" y="3924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786086" y="3741658"/>
                <a:ext cx="2145542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部分能力依赖付费或机构账号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788468" y="3990499"/>
                <a:ext cx="24950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学生团队在课程场景下难以获得完整能力。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6448425" y="4656058"/>
              <a:ext cx="2971514" cy="446961"/>
              <a:chOff x="6448425" y="4656058"/>
              <a:chExt cx="2971514" cy="446961"/>
            </a:xfrm>
          </p:grpSpPr>
          <p:grpSp>
            <p:nvGrpSpPr>
              <p:cNvPr id="65" name="Group 65"/>
              <p:cNvGrpSpPr/>
              <p:nvPr/>
            </p:nvGrpSpPr>
            <p:grpSpPr>
              <a:xfrm>
                <a:off x="6448425" y="4714875"/>
                <a:ext cx="171450" cy="171450"/>
                <a:chOff x="6448425" y="4714875"/>
                <a:chExt cx="171450" cy="1714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448425" y="47148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534150" y="47625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6534150" y="4838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6786086" y="4656058"/>
                <a:ext cx="2633853" cy="236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2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中文与国内教学实验并非其主要目标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788468" y="490489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语言环境与教学流程均存在适配落差。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33400" y="5638800"/>
            <a:ext cx="11125200" cy="647700"/>
            <a:chOff x="533400" y="5638800"/>
            <a:chExt cx="11125200" cy="647700"/>
          </a:xfrm>
        </p:grpSpPr>
        <p:sp>
          <p:nvSpPr>
            <p:cNvPr id="70" name="Rectangle 70"/>
            <p:cNvSpPr/>
            <p:nvPr/>
          </p:nvSpPr>
          <p:spPr>
            <a:xfrm>
              <a:off x="533400" y="5638800"/>
              <a:ext cx="11125200" cy="647700"/>
            </a:xfrm>
            <a:prstGeom prst="roundRect">
              <a:avLst>
                <a:gd name="adj" fmla="val 17647"/>
              </a:avLst>
            </a:prstGeom>
            <a:solidFill>
              <a:srgbClr val="D97706">
                <a:alpha val="10000"/>
              </a:srgbClr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33400" y="5638800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76300" y="5848350"/>
              <a:ext cx="228600" cy="228600"/>
              <a:chOff x="876300" y="5848350"/>
              <a:chExt cx="228600" cy="228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977900" y="59499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27100" y="58991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6300" y="5848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320165" y="5811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产品定位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18736" y="6027658"/>
              <a:ext cx="4770537" cy="178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面向高校学生实验、课程设计与初级科研训练的</a:t>
              </a:r>
              <a:r>
                <a:rPr lang="zh-CN" sz="1162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轻量化</a:t>
              </a:r>
              <a:r>
                <a:rPr lang="zh-CN" sz="1162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电子实验记录助手</a:t>
              </a:r>
              <a:endParaRPr lang="zh-CN" sz="1162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40" grpId="0"/>
      <p:bldP spid="69" grpId="0"/>
      <p:bldP spid="7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1731243" cy="649605"/>
            <a:chOff x="504825" y="379095"/>
            <a:chExt cx="1731243" cy="649605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0355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02 · 系统功能与特色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1731243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系统功能</a:t>
              </a:r>
              <a:r>
                <a:rPr lang="zh-CN" altLang="en-US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介绍</a:t>
              </a:r>
              <a:endParaRPr lang="zh-CN" sz="22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333500"/>
            <a:ext cx="2647950" cy="2247900"/>
            <a:chOff x="533400" y="1333500"/>
            <a:chExt cx="2647950" cy="2247900"/>
          </a:xfrm>
        </p:grpSpPr>
        <p:sp>
          <p:nvSpPr>
            <p:cNvPr id="8" name="Rectangle 8"/>
            <p:cNvSpPr/>
            <p:nvPr/>
          </p:nvSpPr>
          <p:spPr>
            <a:xfrm>
              <a:off x="533400" y="1333500"/>
              <a:ext cx="264795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62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90588" y="1690688"/>
              <a:ext cx="200024" cy="200025"/>
              <a:chOff x="890588" y="1690688"/>
              <a:chExt cx="200024" cy="2000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12812" y="16906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0588" y="18240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5050" y="16921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7275" y="1825704"/>
                <a:ext cx="33337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7" h="65008">
                    <a:moveTo>
                      <a:pt x="33337" y="65008"/>
                    </a:moveTo>
                    <a:lnTo>
                      <a:pt x="33337" y="42783"/>
                    </a:lnTo>
                    <a:cubicBezTo>
                      <a:pt x="33221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45808" y="22245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项目协作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25807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创建项目、邀请成员、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28093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分配负责人与审核人，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0379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实现多人协作。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352800" y="1333500"/>
            <a:ext cx="2647950" cy="2247900"/>
            <a:chOff x="3352800" y="1333500"/>
            <a:chExt cx="2647950" cy="2247900"/>
          </a:xfrm>
        </p:grpSpPr>
        <p:sp>
          <p:nvSpPr>
            <p:cNvPr id="20" name="Rectangle 20"/>
            <p:cNvSpPr/>
            <p:nvPr/>
          </p:nvSpPr>
          <p:spPr>
            <a:xfrm>
              <a:off x="3352800" y="1333500"/>
              <a:ext cx="264795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81400" y="1562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732212" y="1690688"/>
              <a:ext cx="155575" cy="200024"/>
              <a:chOff x="3732212" y="1690688"/>
              <a:chExt cx="155575" cy="20002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732212" y="1712912"/>
                <a:ext cx="1555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0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0"/>
                      <a:pt x="22225" y="177800"/>
                    </a:cubicBezTo>
                    <a:lnTo>
                      <a:pt x="133350" y="177800"/>
                    </a:lnTo>
                    <a:cubicBezTo>
                      <a:pt x="145625" y="177800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776662" y="16906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76662" y="1790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21112" y="17907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776662" y="1835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21112" y="18351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565208" y="22245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实验记录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69018" y="25807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结构化模板 + 富文本编辑，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69018" y="28093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支持附件、自动保存、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69018" y="30379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搜索与导出。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172200" y="1333500"/>
            <a:ext cx="2647950" cy="2247900"/>
            <a:chOff x="6172200" y="1333500"/>
            <a:chExt cx="2647950" cy="2247900"/>
          </a:xfrm>
        </p:grpSpPr>
        <p:sp>
          <p:nvSpPr>
            <p:cNvPr id="34" name="Rectangle 34"/>
            <p:cNvSpPr/>
            <p:nvPr/>
          </p:nvSpPr>
          <p:spPr>
            <a:xfrm>
              <a:off x="6172200" y="1333500"/>
              <a:ext cx="264795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00800" y="1562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534944" y="1707356"/>
              <a:ext cx="183356" cy="161131"/>
              <a:chOff x="6534944" y="1707356"/>
              <a:chExt cx="183356" cy="16113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34944" y="1707356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2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34944" y="1774031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2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34944" y="1840706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2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18288" y="17240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8288" y="17907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18288" y="185737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384608" y="22245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审核流程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8418" y="25807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提交审核、退回修改、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8418" y="28093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审核通过，由状态机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8418" y="30379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控制编辑权限。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991600" y="1333500"/>
            <a:ext cx="2647950" cy="2247900"/>
            <a:chOff x="8991600" y="1333500"/>
            <a:chExt cx="2647950" cy="2247900"/>
          </a:xfrm>
        </p:grpSpPr>
        <p:sp>
          <p:nvSpPr>
            <p:cNvPr id="48" name="Rectangle 48"/>
            <p:cNvSpPr/>
            <p:nvPr/>
          </p:nvSpPr>
          <p:spPr>
            <a:xfrm>
              <a:off x="8991600" y="1333500"/>
              <a:ext cx="264795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20200" y="15621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9359900" y="1712912"/>
              <a:ext cx="177800" cy="155575"/>
              <a:chOff x="9359900" y="1712912"/>
              <a:chExt cx="177800" cy="15557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426575" y="1712912"/>
                <a:ext cx="1111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55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88900" y="0"/>
                    </a:lnTo>
                    <a:cubicBezTo>
                      <a:pt x="101175" y="0"/>
                      <a:pt x="111125" y="9950"/>
                      <a:pt x="111125" y="22225"/>
                    </a:cubicBezTo>
                    <a:lnTo>
                      <a:pt x="111125" y="133350"/>
                    </a:lnTo>
                    <a:cubicBezTo>
                      <a:pt x="111125" y="145625"/>
                      <a:pt x="101175" y="155575"/>
                      <a:pt x="88900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393238" y="1735138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359900" y="17462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204008" y="22245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版本管理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07818" y="25807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不可变历史版本、版本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07818" y="2809399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时间线、内容 Diff 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7818" y="30379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历史版本恢复。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3400" y="3771900"/>
            <a:ext cx="3590925" cy="2247900"/>
            <a:chOff x="533400" y="3771900"/>
            <a:chExt cx="3590925" cy="2247900"/>
          </a:xfrm>
        </p:grpSpPr>
        <p:sp>
          <p:nvSpPr>
            <p:cNvPr id="59" name="Rectangle 59"/>
            <p:cNvSpPr/>
            <p:nvPr/>
          </p:nvSpPr>
          <p:spPr>
            <a:xfrm>
              <a:off x="533400" y="3771900"/>
              <a:ext cx="3590925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2000" y="40005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5591" y="4129088"/>
              <a:ext cx="217007" cy="200024"/>
              <a:chOff x="875591" y="4129088"/>
              <a:chExt cx="217007" cy="20002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75591" y="4129088"/>
                <a:ext cx="217007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7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4" y="34922"/>
                      <a:pt x="89052" y="22965"/>
                      <a:pt x="115009" y="0"/>
                    </a:cubicBezTo>
                    <a:cubicBezTo>
                      <a:pt x="140966" y="22965"/>
                      <a:pt x="174844" y="34922"/>
                      <a:pt x="209466" y="33338"/>
                    </a:cubicBezTo>
                    <a:cubicBezTo>
                      <a:pt x="217007" y="58997"/>
                      <a:pt x="216659" y="86332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23938" y="42846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45808" y="46629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安全与审计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618" y="50191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角色权限、对象级访问控制、操作日志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618" y="52477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与并发冲突保护。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286250" y="3771900"/>
            <a:ext cx="3590925" cy="2247900"/>
            <a:chOff x="4286250" y="3771900"/>
            <a:chExt cx="3590925" cy="2247900"/>
          </a:xfrm>
        </p:grpSpPr>
        <p:sp>
          <p:nvSpPr>
            <p:cNvPr id="68" name="Rectangle 68"/>
            <p:cNvSpPr/>
            <p:nvPr/>
          </p:nvSpPr>
          <p:spPr>
            <a:xfrm>
              <a:off x="4286250" y="3771900"/>
              <a:ext cx="3590925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4514850" y="40005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4665662" y="4117975"/>
              <a:ext cx="155576" cy="211137"/>
              <a:chOff x="4665662" y="4117975"/>
              <a:chExt cx="155576" cy="211137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4676775" y="414020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743450" y="41179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710112" y="42291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4776788" y="42291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4665662" y="42513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4776788" y="42513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4710112" y="429577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4721225" y="4184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765675" y="4184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4498658" y="46629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智能辅助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02468" y="5019199"/>
              <a:ext cx="23715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Agent 通过只读工具查询项目数据，生成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502468" y="52477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带证据、可追踪、可复核的分析结果。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039100" y="3771900"/>
            <a:ext cx="3619500" cy="2247900"/>
            <a:chOff x="8039100" y="3771900"/>
            <a:chExt cx="3619500" cy="2247900"/>
          </a:xfrm>
        </p:grpSpPr>
        <p:sp>
          <p:nvSpPr>
            <p:cNvPr id="84" name="Rectangle 84"/>
            <p:cNvSpPr/>
            <p:nvPr/>
          </p:nvSpPr>
          <p:spPr>
            <a:xfrm>
              <a:off x="8039100" y="3771900"/>
              <a:ext cx="361950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8267700" y="40005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8407400" y="4162425"/>
              <a:ext cx="177800" cy="153988"/>
              <a:chOff x="8407400" y="4162425"/>
              <a:chExt cx="177800" cy="153988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8407400" y="4306888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407400" y="416242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100012"/>
                    </a:moveTo>
                    <a:lnTo>
                      <a:pt x="44450" y="33338"/>
                    </a:lnTo>
                    <a:lnTo>
                      <a:pt x="88900" y="55562"/>
                    </a:lnTo>
                    <a:lnTo>
                      <a:pt x="133350" y="0"/>
                    </a:lnTo>
                    <a:lnTo>
                      <a:pt x="177800" y="444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8251508" y="46629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数据分析扩展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55318" y="5019199"/>
              <a:ext cx="23520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读取 CSV / Excel 数据，进行曲线拟合、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55318" y="52477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多元回归与图表展示。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11314033" y="65674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  <p:bldP spid="47" grpId="0"/>
      <p:bldP spid="58" grpId="0"/>
      <p:bldP spid="67" grpId="0"/>
      <p:bldP spid="83" grpId="0"/>
      <p:bldP spid="9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4782741" cy="692467"/>
            <a:chOff x="504825" y="379095"/>
            <a:chExt cx="4782741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0355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02 · 系统功能与特色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特色一：权限、审核与状态机结合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33400" y="1485900"/>
            <a:ext cx="10001250" cy="2190750"/>
            <a:chOff x="533400" y="1485900"/>
            <a:chExt cx="10001250" cy="21907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2571750" cy="838200"/>
            </a:xfrm>
            <a:prstGeom prst="roundRect">
              <a:avLst>
                <a:gd name="adj" fmla="val 13636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01890" y="1674971"/>
              <a:ext cx="6347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编辑中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7800" y="19983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75000"/>
                    </a:srgbClr>
                  </a:solidFill>
                  <a:latin typeface="Consolas"/>
                  <a:ea typeface="Microsoft YaHei"/>
                  <a:cs typeface="Consolas"/>
                </a:rPr>
                <a:t>IN_PROGRESS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62300" y="1905000"/>
              <a:ext cx="9906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83161" y="1670447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提交审核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48150" y="1485900"/>
              <a:ext cx="2571750" cy="838200"/>
            </a:xfrm>
            <a:prstGeom prst="roundRect">
              <a:avLst>
                <a:gd name="adj" fmla="val 13636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16640" y="1674971"/>
              <a:ext cx="6347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审核中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54536" y="1998345"/>
              <a:ext cx="9589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Consolas"/>
                  <a:ea typeface="Microsoft YaHei"/>
                  <a:cs typeface="Consolas"/>
                </a:rPr>
                <a:t>IN_REVIEW · 冻结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77050" y="1905000"/>
              <a:ext cx="990600" cy="1"/>
            </a:xfrm>
            <a:prstGeom prst="line">
              <a:avLst/>
            </a:prstGeom>
            <a:noFill/>
            <a:ln w="28575">
              <a:solidFill>
                <a:srgbClr val="059669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97911" y="1670447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59669"/>
                  </a:solidFill>
                  <a:latin typeface="Segoe UI"/>
                  <a:ea typeface="Microsoft YaHei"/>
                  <a:cs typeface="Segoe UI"/>
                </a:rPr>
                <a:t>审核通过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62900" y="1485900"/>
              <a:ext cx="2571750" cy="838200"/>
            </a:xfrm>
            <a:prstGeom prst="roundRect">
              <a:avLst>
                <a:gd name="adj" fmla="val 13636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31628" y="16749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审核通过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07266" y="1998345"/>
              <a:ext cx="1283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Consolas"/>
                  <a:ea typeface="Microsoft YaHei"/>
                  <a:cs typeface="Consolas"/>
                </a:rPr>
                <a:t>COMPLETED · 永久只读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534025" y="2381250"/>
              <a:ext cx="1" cy="476250"/>
            </a:xfrm>
            <a:prstGeom prst="line">
              <a:avLst/>
            </a:prstGeom>
            <a:noFill/>
            <a:ln w="28575">
              <a:solidFill>
                <a:srgbClr val="D97706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74519" y="2584847"/>
              <a:ext cx="2863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退回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48150" y="2952750"/>
              <a:ext cx="2571750" cy="72390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23812">
              <a:solidFill>
                <a:srgbClr val="D9770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38833" y="31308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退回修改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9523" y="3427095"/>
              <a:ext cx="11690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97706">
                      <a:alphaMod val="85000"/>
                    </a:srgbClr>
                  </a:solidFill>
                  <a:latin typeface="Consolas"/>
                  <a:ea typeface="Microsoft YaHei"/>
                  <a:cs typeface="Consolas"/>
                </a:rPr>
                <a:t>CHANGES_REQUESTED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19275" y="2419350"/>
              <a:ext cx="2371725" cy="895350"/>
            </a:xfrm>
            <a:custGeom>
              <a:avLst/>
              <a:gdLst/>
              <a:ahLst/>
              <a:cxnLst/>
              <a:rect l="l" t="t" r="r" b="b"/>
              <a:pathLst>
                <a:path w="2371725" h="895350">
                  <a:moveTo>
                    <a:pt x="2371725" y="895350"/>
                  </a:moveTo>
                  <a:lnTo>
                    <a:pt x="0" y="89535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  <a:prstDash val="lgDash"/>
              <a:tailEnd type="triangle" w="lg" len="lg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74094" y="3080147"/>
              <a:ext cx="13364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按意见修改后重新提交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4038600"/>
            <a:ext cx="5334000" cy="2209800"/>
            <a:chOff x="533400" y="4038600"/>
            <a:chExt cx="5334000" cy="2209800"/>
          </a:xfrm>
        </p:grpSpPr>
        <p:sp>
          <p:nvSpPr>
            <p:cNvPr id="28" name="Rectangle 28"/>
            <p:cNvSpPr/>
            <p:nvPr/>
          </p:nvSpPr>
          <p:spPr>
            <a:xfrm>
              <a:off x="533400" y="4038600"/>
              <a:ext cx="5334000" cy="2209800"/>
            </a:xfrm>
            <a:prstGeom prst="roundRect">
              <a:avLst>
                <a:gd name="adj" fmla="val 517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008" y="4262914"/>
              <a:ext cx="654025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状态规则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4591050"/>
              <a:ext cx="819150" cy="2667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8969" y="4670822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编辑中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96891" y="4662726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记录创建者可以修改内容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" y="4972050"/>
              <a:ext cx="819150" cy="2667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8969" y="5051822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审核中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96891" y="5043726"/>
              <a:ext cx="23210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内容与附件冻结，防止审核期间被修改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8200" y="5353050"/>
              <a:ext cx="819150" cy="266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3336" y="5432822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退回修改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96891" y="5424726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创建者根据审核意见继续完善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" y="5734050"/>
              <a:ext cx="819150" cy="2667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3336" y="5813822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审核通过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96891" y="5805726"/>
              <a:ext cx="21859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记录永久只读，形成稳定的实验成果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72200" y="4038600"/>
            <a:ext cx="5486400" cy="2209800"/>
            <a:chOff x="6172200" y="4038600"/>
            <a:chExt cx="5486400" cy="2209800"/>
          </a:xfrm>
        </p:grpSpPr>
        <p:sp>
          <p:nvSpPr>
            <p:cNvPr id="43" name="Rectangle 43"/>
            <p:cNvSpPr/>
            <p:nvPr/>
          </p:nvSpPr>
          <p:spPr>
            <a:xfrm>
              <a:off x="6172200" y="4038600"/>
              <a:ext cx="5486400" cy="22098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72200" y="40386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28594" y="4260056"/>
              <a:ext cx="144463" cy="185737"/>
              <a:chOff x="6528594" y="4260056"/>
              <a:chExt cx="144463" cy="1857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28594" y="4342606"/>
                <a:ext cx="144463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03187">
                    <a:moveTo>
                      <a:pt x="0" y="20637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23825" y="0"/>
                    </a:lnTo>
                    <a:cubicBezTo>
                      <a:pt x="135223" y="0"/>
                      <a:pt x="144463" y="9240"/>
                      <a:pt x="144463" y="20637"/>
                    </a:cubicBezTo>
                    <a:lnTo>
                      <a:pt x="144463" y="82550"/>
                    </a:lnTo>
                    <a:cubicBezTo>
                      <a:pt x="144463" y="93948"/>
                      <a:pt x="135223" y="103187"/>
                      <a:pt x="123825" y="103187"/>
                    </a:cubicBezTo>
                    <a:lnTo>
                      <a:pt x="20638" y="103187"/>
                    </a:lnTo>
                    <a:cubicBezTo>
                      <a:pt x="9240" y="103187"/>
                      <a:pt x="0" y="93948"/>
                      <a:pt x="0" y="8255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90506" y="4383881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59550" y="42600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1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822758" y="4272439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RecordActionPolicy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4618" y="4600099"/>
              <a:ext cx="31841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集中判断，Controller 与前端不再各自编写权限分支：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77000" y="4857750"/>
              <a:ext cx="914400" cy="3048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70738" y="4960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用户角色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13835" y="494442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581900" y="4857750"/>
              <a:ext cx="1047750" cy="3048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6298" y="496062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项目成员关系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52085" y="494442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820150" y="4857750"/>
              <a:ext cx="914400" cy="3048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13888" y="4960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记录状态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77000" y="5276850"/>
              <a:ext cx="914400" cy="3048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07731" y="5379720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是否创建者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13835" y="536352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581900" y="5276850"/>
              <a:ext cx="914400" cy="3048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75638" y="53797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操作类型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87254" y="53473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20150" y="5276850"/>
              <a:ext cx="1162050" cy="304800"/>
            </a:xfrm>
            <a:prstGeom prst="roundRect">
              <a:avLst>
                <a:gd name="adj" fmla="val 25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11698" y="537972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是否允许操作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4618" y="5781199"/>
              <a:ext cx="3645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项目负责人可管理项目，但</a:t>
              </a:r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不能随意修改其他成员的实验记录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4618" y="6009799"/>
              <a:ext cx="32556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只有</a:t>
              </a:r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指定审核人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才能给出审核结论，明确记录责任边界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6342186" cy="692467"/>
            <a:chOff x="504825" y="379095"/>
            <a:chExt cx="6342186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0355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02 · 系统功能与特色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63421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特色二：Git 风格的时间线、版本管理与 Diff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33400" y="1428750"/>
            <a:ext cx="2647950" cy="3733800"/>
            <a:chOff x="533400" y="1428750"/>
            <a:chExt cx="2647950" cy="373380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2647950" cy="373380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287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001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52500" y="1935956"/>
              <a:ext cx="190500" cy="166688"/>
              <a:chOff x="952500" y="1935956"/>
              <a:chExt cx="190500" cy="1666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23938" y="1935956"/>
                <a:ext cx="119062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66688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95250" y="0"/>
                    </a:lnTo>
                    <a:cubicBezTo>
                      <a:pt x="108401" y="0"/>
                      <a:pt x="119062" y="10661"/>
                      <a:pt x="119062" y="23812"/>
                    </a:cubicBezTo>
                    <a:lnTo>
                      <a:pt x="119062" y="142875"/>
                    </a:lnTo>
                    <a:cubicBezTo>
                      <a:pt x="119062" y="156026"/>
                      <a:pt x="108401" y="166688"/>
                      <a:pt x="95250" y="166688"/>
                    </a:cubicBezTo>
                    <a:lnTo>
                      <a:pt x="23812" y="166688"/>
                    </a:lnTo>
                    <a:cubicBezTo>
                      <a:pt x="10661" y="166688"/>
                      <a:pt x="0" y="156026"/>
                      <a:pt x="0" y="142875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8219" y="1959769"/>
                <a:ext cx="95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9062">
                    <a:moveTo>
                      <a:pt x="0" y="0"/>
                    </a:moveTo>
                    <a:lnTo>
                      <a:pt x="0" y="11906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19716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82955" y="2559368"/>
              <a:ext cx="1395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不可变 Revision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241" y="2957751"/>
              <a:ext cx="124086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每次提交或恢复都会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7241" y="3205401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生成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不可变的历史快照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241" y="3453051"/>
              <a:ext cx="13758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历史版本不会被覆盖，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241" y="3700701"/>
              <a:ext cx="124086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任何时候都可回溯。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71851" y="1428750"/>
            <a:ext cx="2679977" cy="3733800"/>
            <a:chOff x="3352800" y="1428750"/>
            <a:chExt cx="2679977" cy="3733800"/>
          </a:xfrm>
        </p:grpSpPr>
        <p:sp>
          <p:nvSpPr>
            <p:cNvPr id="22" name="Rectangle 22"/>
            <p:cNvSpPr/>
            <p:nvPr/>
          </p:nvSpPr>
          <p:spPr>
            <a:xfrm>
              <a:off x="3384827" y="1428750"/>
              <a:ext cx="2647950" cy="373380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52800" y="14287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195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771900" y="1912144"/>
              <a:ext cx="190500" cy="226219"/>
              <a:chOff x="3771900" y="1912144"/>
              <a:chExt cx="190500" cy="22621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843338" y="20907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771900" y="21145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7143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90962" y="21145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795712" y="1912144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142875"/>
                    </a:moveTo>
                    <a:lnTo>
                      <a:pt x="47625" y="119062"/>
                    </a:lnTo>
                    <a:lnTo>
                      <a:pt x="11906" y="119062"/>
                    </a:lnTo>
                    <a:cubicBezTo>
                      <a:pt x="5331" y="119062"/>
                      <a:pt x="0" y="113732"/>
                      <a:pt x="0" y="107156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130969" y="0"/>
                    </a:lnTo>
                    <a:cubicBezTo>
                      <a:pt x="137544" y="0"/>
                      <a:pt x="142875" y="5331"/>
                      <a:pt x="142875" y="11906"/>
                    </a:cubicBezTo>
                    <a:lnTo>
                      <a:pt x="142875" y="107156"/>
                    </a:lnTo>
                    <a:cubicBezTo>
                      <a:pt x="142875" y="113732"/>
                      <a:pt x="137544" y="119062"/>
                      <a:pt x="130969" y="119062"/>
                    </a:cubicBezTo>
                    <a:lnTo>
                      <a:pt x="95250" y="119062"/>
                    </a:lnTo>
                    <a:lnTo>
                      <a:pt x="71438" y="1428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602355" y="25593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项目时间线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6641" y="2957751"/>
              <a:ext cx="124086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聚合记录创建、提交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6641" y="3205401"/>
              <a:ext cx="13758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审核、审核结果、版本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06641" y="3453051"/>
              <a:ext cx="1237518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恢复与</a:t>
              </a:r>
              <a:r>
                <a:rPr lang="en-US" alt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Agent </a:t>
              </a:r>
              <a:r>
                <a:rPr lang="zh-CN" altLang="en-US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分析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06641" y="3700701"/>
              <a:ext cx="649217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关键事件。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72200" y="1428750"/>
            <a:ext cx="2647950" cy="3733800"/>
            <a:chOff x="6172200" y="1428750"/>
            <a:chExt cx="2647950" cy="3733800"/>
          </a:xfrm>
        </p:grpSpPr>
        <p:sp>
          <p:nvSpPr>
            <p:cNvPr id="37" name="Rectangle 37"/>
            <p:cNvSpPr/>
            <p:nvPr/>
          </p:nvSpPr>
          <p:spPr>
            <a:xfrm>
              <a:off x="6172200" y="1428750"/>
              <a:ext cx="2647950" cy="373380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72200" y="14287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89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91300" y="1912144"/>
              <a:ext cx="190500" cy="214313"/>
              <a:chOff x="6591300" y="1912144"/>
              <a:chExt cx="190500" cy="2143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91300" y="19240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34175" y="20669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74644" y="1947862"/>
                <a:ext cx="83344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19062">
                    <a:moveTo>
                      <a:pt x="0" y="0"/>
                    </a:moveTo>
                    <a:lnTo>
                      <a:pt x="59531" y="0"/>
                    </a:lnTo>
                    <a:cubicBezTo>
                      <a:pt x="72683" y="0"/>
                      <a:pt x="83344" y="10661"/>
                      <a:pt x="83344" y="23812"/>
                    </a:cubicBezTo>
                    <a:lnTo>
                      <a:pt x="83344" y="11906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74644" y="1912144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35719" y="71438"/>
                    </a:moveTo>
                    <a:lnTo>
                      <a:pt x="0" y="35719"/>
                    </a:lnTo>
                    <a:lnTo>
                      <a:pt x="35719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15112" y="1971675"/>
                <a:ext cx="83344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19062">
                    <a:moveTo>
                      <a:pt x="83344" y="119062"/>
                    </a:move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62738" y="2055019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0" y="0"/>
                    </a:moveTo>
                    <a:lnTo>
                      <a:pt x="35719" y="35719"/>
                    </a:ln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421755" y="255936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语义化 Diff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26041" y="2957751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任意两个历史版本可比较；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6041" y="3205401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不只比较普通文本，还能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6041" y="3453051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识别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标题、结构化字段、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6041" y="3700701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富文本块与附件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的增删改。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991600" y="1428750"/>
            <a:ext cx="2647950" cy="3733800"/>
            <a:chOff x="8991600" y="1428750"/>
            <a:chExt cx="2647950" cy="3733800"/>
          </a:xfrm>
        </p:grpSpPr>
        <p:sp>
          <p:nvSpPr>
            <p:cNvPr id="54" name="Rectangle 54"/>
            <p:cNvSpPr/>
            <p:nvPr/>
          </p:nvSpPr>
          <p:spPr>
            <a:xfrm>
              <a:off x="8991600" y="1428750"/>
              <a:ext cx="2647950" cy="373380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91600" y="14287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583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398794" y="1902423"/>
              <a:ext cx="220077" cy="224242"/>
              <a:chOff x="9398794" y="1902423"/>
              <a:chExt cx="220077" cy="22424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399508" y="1902423"/>
                <a:ext cx="219363" cy="224242"/>
              </a:xfrm>
              <a:custGeom>
                <a:avLst/>
                <a:gdLst/>
                <a:ahLst/>
                <a:cxnLst/>
                <a:rect l="l" t="t" r="r" b="b"/>
                <a:pathLst>
                  <a:path w="219363" h="224242">
                    <a:moveTo>
                      <a:pt x="0" y="128783"/>
                    </a:moveTo>
                    <a:cubicBezTo>
                      <a:pt x="6049" y="182855"/>
                      <a:pt x="51659" y="223811"/>
                      <a:pt x="106068" y="224026"/>
                    </a:cubicBezTo>
                    <a:cubicBezTo>
                      <a:pt x="160476" y="224242"/>
                      <a:pt x="206410" y="183649"/>
                      <a:pt x="212886" y="129627"/>
                    </a:cubicBezTo>
                    <a:cubicBezTo>
                      <a:pt x="219363" y="75605"/>
                      <a:pt x="184327" y="25304"/>
                      <a:pt x="131410" y="12652"/>
                    </a:cubicBezTo>
                    <a:cubicBezTo>
                      <a:pt x="78492" y="0"/>
                      <a:pt x="24493" y="29013"/>
                      <a:pt x="5834" y="8012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398794" y="1924062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59531"/>
                    </a:ln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494044" y="200739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241155" y="2559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安全恢复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45441" y="2957751"/>
              <a:ext cx="13758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恢复前先展示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恢复预览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45441" y="3205401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与差异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，用户确认后修改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45441" y="3453051"/>
              <a:ext cx="1298432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当前工作副本，</a:t>
              </a:r>
              <a:r>
                <a:rPr lang="zh-CN" altLang="en-US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但不会</a:t>
              </a:r>
              <a:endParaRPr lang="zh-CN" sz="1012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45441" y="3700701"/>
              <a:ext cx="97083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删除后续历史。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448300"/>
            <a:ext cx="11125200" cy="685800"/>
            <a:chOff x="533400" y="5448300"/>
            <a:chExt cx="11125200" cy="685800"/>
          </a:xfrm>
        </p:grpSpPr>
        <p:sp>
          <p:nvSpPr>
            <p:cNvPr id="68" name="Rectangle 68"/>
            <p:cNvSpPr/>
            <p:nvPr/>
          </p:nvSpPr>
          <p:spPr>
            <a:xfrm>
              <a:off x="533400" y="5448300"/>
              <a:ext cx="11125200" cy="685800"/>
            </a:xfrm>
            <a:prstGeom prst="roundRect">
              <a:avLst>
                <a:gd name="adj" fmla="val 16667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47738" y="5676900"/>
              <a:ext cx="214312" cy="228600"/>
              <a:chOff x="947738" y="5676900"/>
              <a:chExt cx="214312" cy="2286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947738" y="5848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47738" y="5676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090612" y="5676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76312" y="57340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04888" y="577691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76325" y="577691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332134" y="5707054"/>
              <a:ext cx="5849358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记录修改历史、修改内容，并提供安全恢复，</a:t>
              </a:r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增强实验过程的可追溯性与可复现性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  <p:bldP spid="53" grpId="0"/>
      <p:bldP spid="67" grpId="0"/>
      <p:bldP spid="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6105906" cy="692467"/>
            <a:chOff x="504825" y="379095"/>
            <a:chExt cx="6105906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0355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02 · 系统功能与特色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610590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特色三：受约束、可追踪的 Agent Harness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181225" y="1504950"/>
            <a:ext cx="6305550" cy="3943350"/>
            <a:chOff x="2181225" y="1504950"/>
            <a:chExt cx="6305550" cy="3943350"/>
          </a:xfrm>
        </p:grpSpPr>
        <p:sp>
          <p:nvSpPr>
            <p:cNvPr id="7" name="Line 7"/>
            <p:cNvSpPr/>
            <p:nvPr/>
          </p:nvSpPr>
          <p:spPr>
            <a:xfrm>
              <a:off x="5334000" y="1504950"/>
              <a:ext cx="9525" cy="2066925"/>
            </a:xfrm>
            <a:custGeom>
              <a:avLst/>
              <a:gdLst/>
              <a:ahLst/>
              <a:cxnLst/>
              <a:rect l="l" t="t" r="r" b="b"/>
              <a:pathLst>
                <a:path w="9525" h="2066925">
                  <a:moveTo>
                    <a:pt x="0" y="20669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0" y="1981200"/>
              <a:ext cx="2019300" cy="1590675"/>
            </a:xfrm>
            <a:custGeom>
              <a:avLst/>
              <a:gdLst/>
              <a:ahLst/>
              <a:cxnLst/>
              <a:rect l="l" t="t" r="r" b="b"/>
              <a:pathLst>
                <a:path w="2019300" h="1590675">
                  <a:moveTo>
                    <a:pt x="0" y="1590675"/>
                  </a:moveTo>
                  <a:lnTo>
                    <a:pt x="2019300" y="0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3571875"/>
              <a:ext cx="3152775" cy="476250"/>
            </a:xfrm>
            <a:custGeom>
              <a:avLst/>
              <a:gdLst/>
              <a:ahLst/>
              <a:cxnLst/>
              <a:rect l="l" t="t" r="r" b="b"/>
              <a:pathLst>
                <a:path w="3152775" h="476250">
                  <a:moveTo>
                    <a:pt x="0" y="0"/>
                  </a:moveTo>
                  <a:lnTo>
                    <a:pt x="3152775" y="476250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334000" y="3571875"/>
              <a:ext cx="1400175" cy="1876425"/>
            </a:xfrm>
            <a:custGeom>
              <a:avLst/>
              <a:gdLst/>
              <a:ahLst/>
              <a:cxnLst/>
              <a:rect l="l" t="t" r="r" b="b"/>
              <a:pathLst>
                <a:path w="1400175" h="1876425">
                  <a:moveTo>
                    <a:pt x="0" y="0"/>
                  </a:moveTo>
                  <a:lnTo>
                    <a:pt x="1400175" y="1876425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933825" y="3571875"/>
              <a:ext cx="1400175" cy="1876425"/>
            </a:xfrm>
            <a:custGeom>
              <a:avLst/>
              <a:gdLst/>
              <a:ahLst/>
              <a:cxnLst/>
              <a:rect l="l" t="t" r="r" b="b"/>
              <a:pathLst>
                <a:path w="1400175" h="1876425">
                  <a:moveTo>
                    <a:pt x="1400175" y="0"/>
                  </a:moveTo>
                  <a:lnTo>
                    <a:pt x="0" y="1876425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181225" y="3571875"/>
              <a:ext cx="3152775" cy="476250"/>
            </a:xfrm>
            <a:custGeom>
              <a:avLst/>
              <a:gdLst/>
              <a:ahLst/>
              <a:cxnLst/>
              <a:rect l="l" t="t" r="r" b="b"/>
              <a:pathLst>
                <a:path w="3152775" h="476250">
                  <a:moveTo>
                    <a:pt x="3152775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800350" y="2286000"/>
              <a:ext cx="2533650" cy="1285875"/>
            </a:xfrm>
            <a:custGeom>
              <a:avLst/>
              <a:gdLst/>
              <a:ahLst/>
              <a:cxnLst/>
              <a:rect l="l" t="t" r="r" b="b"/>
              <a:pathLst>
                <a:path w="2533650" h="1285875">
                  <a:moveTo>
                    <a:pt x="2533650" y="12858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CE4E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210050" y="2447925"/>
              <a:ext cx="2247900" cy="2247900"/>
            </a:xfrm>
            <a:prstGeom prst="ellipse">
              <a:avLst/>
            </a:prstGeom>
            <a:noFill/>
            <a:ln w="14288">
              <a:solidFill>
                <a:srgbClr val="DCE4E2"/>
              </a:solidFill>
              <a:custDash>
                <a:ds d="266666" sp="400000"/>
              </a:custDash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533900" y="2771775"/>
            <a:ext cx="1600200" cy="1600200"/>
            <a:chOff x="4533900" y="2771775"/>
            <a:chExt cx="1600200" cy="1600200"/>
          </a:xfrm>
        </p:grpSpPr>
        <p:sp>
          <p:nvSpPr>
            <p:cNvPr id="16" name="Ellipse 16"/>
            <p:cNvSpPr/>
            <p:nvPr/>
          </p:nvSpPr>
          <p:spPr>
            <a:xfrm>
              <a:off x="4533900" y="2771775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134E4A"/>
                </a:gs>
                <a:gs pos="100000">
                  <a:srgbClr val="0F766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648200" y="2886075"/>
              <a:ext cx="1371600" cy="1371600"/>
            </a:xfrm>
            <a:prstGeom prst="ellipse">
              <a:avLst/>
            </a:prstGeom>
            <a:noFill/>
            <a:ln w="14288">
              <a:solidFill>
                <a:srgbClr val="FFFFFF">
                  <a:alpha val="35000"/>
                </a:srgbClr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28431" y="3097212"/>
              <a:ext cx="211138" cy="286544"/>
              <a:chOff x="5228431" y="3097212"/>
              <a:chExt cx="211138" cy="28654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243512" y="3127375"/>
                <a:ext cx="1809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20650">
                    <a:moveTo>
                      <a:pt x="0" y="30163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3" y="0"/>
                    </a:lnTo>
                    <a:cubicBezTo>
                      <a:pt x="167471" y="0"/>
                      <a:pt x="180975" y="13504"/>
                      <a:pt x="180975" y="30163"/>
                    </a:cubicBezTo>
                    <a:lnTo>
                      <a:pt x="180975" y="90488"/>
                    </a:lnTo>
                    <a:cubicBezTo>
                      <a:pt x="180975" y="107146"/>
                      <a:pt x="167471" y="120650"/>
                      <a:pt x="150813" y="120650"/>
                    </a:cubicBezTo>
                    <a:lnTo>
                      <a:pt x="30162" y="120650"/>
                    </a:lnTo>
                    <a:cubicBezTo>
                      <a:pt x="13504" y="120650"/>
                      <a:pt x="0" y="107146"/>
                      <a:pt x="0" y="90488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34000" y="30972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288756" y="3248025"/>
                <a:ext cx="9525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5731">
                    <a:moveTo>
                      <a:pt x="0" y="0"/>
                    </a:moveTo>
                    <a:lnTo>
                      <a:pt x="0" y="13573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9244" y="3248025"/>
                <a:ext cx="9525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5731">
                    <a:moveTo>
                      <a:pt x="0" y="0"/>
                    </a:moveTo>
                    <a:lnTo>
                      <a:pt x="0" y="13573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28431" y="3278188"/>
                <a:ext cx="603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30162">
                    <a:moveTo>
                      <a:pt x="0" y="30162"/>
                    </a:moveTo>
                    <a:lnTo>
                      <a:pt x="603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79244" y="3278188"/>
                <a:ext cx="603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30162">
                    <a:moveTo>
                      <a:pt x="0" y="0"/>
                    </a:moveTo>
                    <a:lnTo>
                      <a:pt x="60325" y="301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88756" y="3338512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303838" y="3187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64162" y="3187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664723" y="3588068"/>
              <a:ext cx="1338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Agent Harness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2403" y="3854291"/>
              <a:ext cx="423193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75000"/>
                    </a:srgbClr>
                  </a:solidFill>
                  <a:latin typeface="Segoe UI"/>
                  <a:ea typeface="Microsoft YaHei"/>
                  <a:cs typeface="Segoe UI"/>
                </a:rPr>
                <a:t>运行框架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00550" y="1200150"/>
            <a:ext cx="1866900" cy="609600"/>
            <a:chOff x="4400550" y="1200150"/>
            <a:chExt cx="1866900" cy="609600"/>
          </a:xfrm>
        </p:grpSpPr>
        <p:sp>
          <p:nvSpPr>
            <p:cNvPr id="31" name="Rectangle 31"/>
            <p:cNvSpPr/>
            <p:nvPr/>
          </p:nvSpPr>
          <p:spPr>
            <a:xfrm>
              <a:off x="4400550" y="1200150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00550" y="120015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77715" y="1324928"/>
              <a:ext cx="77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Tool · 工具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80096" y="156424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注册验证的白名单只读工具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19850" y="1676400"/>
            <a:ext cx="1866900" cy="609600"/>
            <a:chOff x="6419850" y="1676400"/>
            <a:chExt cx="1866900" cy="609600"/>
          </a:xfrm>
        </p:grpSpPr>
        <p:sp>
          <p:nvSpPr>
            <p:cNvPr id="36" name="Rectangle 36"/>
            <p:cNvSpPr/>
            <p:nvPr/>
          </p:nvSpPr>
          <p:spPr>
            <a:xfrm>
              <a:off x="6419850" y="1676400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19850" y="16764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7015" y="1801178"/>
              <a:ext cx="1004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Authorization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9396" y="2040493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每次调用重新校验权限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53325" y="3743325"/>
            <a:ext cx="1866900" cy="609600"/>
            <a:chOff x="7553325" y="3743325"/>
            <a:chExt cx="1866900" cy="609600"/>
          </a:xfrm>
        </p:grpSpPr>
        <p:sp>
          <p:nvSpPr>
            <p:cNvPr id="41" name="Rectangle 41"/>
            <p:cNvSpPr/>
            <p:nvPr/>
          </p:nvSpPr>
          <p:spPr>
            <a:xfrm>
              <a:off x="7553325" y="3743325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53325" y="3743325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30490" y="3868102"/>
              <a:ext cx="5412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Schema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32871" y="4107418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参数与输出满足预定义结构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800725" y="5143500"/>
            <a:ext cx="1866900" cy="609600"/>
            <a:chOff x="5800725" y="5143500"/>
            <a:chExt cx="1866900" cy="609600"/>
          </a:xfrm>
        </p:grpSpPr>
        <p:sp>
          <p:nvSpPr>
            <p:cNvPr id="46" name="Rectangle 46"/>
            <p:cNvSpPr/>
            <p:nvPr/>
          </p:nvSpPr>
          <p:spPr>
            <a:xfrm>
              <a:off x="5800725" y="5143500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00725" y="51435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77890" y="5268278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Evidence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80271" y="5507593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结论引用真实系统数据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000375" y="5143500"/>
            <a:ext cx="1866900" cy="609600"/>
            <a:chOff x="3000375" y="5143500"/>
            <a:chExt cx="1866900" cy="609600"/>
          </a:xfrm>
        </p:grpSpPr>
        <p:sp>
          <p:nvSpPr>
            <p:cNvPr id="51" name="Rectangle 51"/>
            <p:cNvSpPr/>
            <p:nvPr/>
          </p:nvSpPr>
          <p:spPr>
            <a:xfrm>
              <a:off x="3000375" y="5143500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000375" y="51435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177540" y="526827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Trace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79921" y="5507593"/>
              <a:ext cx="128706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调用、步骤、耗时全记录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47775" y="3743325"/>
            <a:ext cx="1866900" cy="609600"/>
            <a:chOff x="1247775" y="3743325"/>
            <a:chExt cx="1866900" cy="609600"/>
          </a:xfrm>
        </p:grpSpPr>
        <p:sp>
          <p:nvSpPr>
            <p:cNvPr id="56" name="Rectangle 56"/>
            <p:cNvSpPr/>
            <p:nvPr/>
          </p:nvSpPr>
          <p:spPr>
            <a:xfrm>
              <a:off x="1247775" y="3743325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247775" y="3743325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24940" y="38681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Replay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27321" y="4107418"/>
              <a:ext cx="105703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执行过程可回放复核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866900" y="1981200"/>
            <a:ext cx="1866900" cy="609600"/>
            <a:chOff x="1866900" y="1981200"/>
            <a:chExt cx="1866900" cy="609600"/>
          </a:xfrm>
        </p:grpSpPr>
        <p:sp>
          <p:nvSpPr>
            <p:cNvPr id="61" name="Rectangle 61"/>
            <p:cNvSpPr/>
            <p:nvPr/>
          </p:nvSpPr>
          <p:spPr>
            <a:xfrm>
              <a:off x="1866900" y="1981200"/>
              <a:ext cx="18669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866900" y="1981200"/>
              <a:ext cx="47625" cy="6096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044065" y="2105978"/>
              <a:ext cx="5853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Runtime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046446" y="2345293"/>
              <a:ext cx="1165384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任务队列 · 超时 · </a:t>
              </a:r>
              <a:r>
                <a:rPr lang="zh-CN" altLang="en-US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步骤数</a:t>
              </a:r>
              <a:endParaRPr lang="zh-CN" sz="862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33400" y="5962650"/>
            <a:ext cx="11125200" cy="495300"/>
            <a:chOff x="533400" y="5962650"/>
            <a:chExt cx="11125200" cy="495300"/>
          </a:xfrm>
        </p:grpSpPr>
        <p:sp>
          <p:nvSpPr>
            <p:cNvPr id="75" name="Rectangle 75"/>
            <p:cNvSpPr/>
            <p:nvPr/>
          </p:nvSpPr>
          <p:spPr>
            <a:xfrm>
              <a:off x="533400" y="5962650"/>
              <a:ext cx="11125200" cy="495300"/>
            </a:xfrm>
            <a:prstGeom prst="roundRect">
              <a:avLst>
                <a:gd name="adj" fmla="val 19231"/>
              </a:avLst>
            </a:prstGeom>
            <a:solidFill>
              <a:srgbClr val="D97706">
                <a:alpha val="10000"/>
              </a:srgbClr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831056" y="6117431"/>
              <a:ext cx="185737" cy="185738"/>
              <a:chOff x="831056" y="6117431"/>
              <a:chExt cx="185737" cy="185738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1056" y="6117431"/>
                <a:ext cx="103187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85738">
                    <a:moveTo>
                      <a:pt x="0" y="165100"/>
                    </a:moveTo>
                    <a:cubicBezTo>
                      <a:pt x="0" y="176498"/>
                      <a:pt x="9240" y="185738"/>
                      <a:pt x="20638" y="185738"/>
                    </a:cubicBezTo>
                    <a:cubicBezTo>
                      <a:pt x="41275" y="185738"/>
                      <a:pt x="41275" y="144462"/>
                      <a:pt x="51594" y="92869"/>
                    </a:cubicBezTo>
                    <a:cubicBezTo>
                      <a:pt x="61912" y="41275"/>
                      <a:pt x="61912" y="0"/>
                      <a:pt x="82550" y="0"/>
                    </a:cubicBezTo>
                    <a:cubicBezTo>
                      <a:pt x="93948" y="0"/>
                      <a:pt x="103187" y="9240"/>
                      <a:pt x="103187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51694" y="6210300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54881" y="621030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54881" y="6210300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187291" y="6148626"/>
              <a:ext cx="756641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扩展 · 实验数据拟合工具库</a:t>
              </a:r>
              <a:r>
                <a:rPr lang="zh-CN" sz="1012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：线性 / 多项式 / 指数 / 对数 / 幂函数 / 米氏 / Logistic，读取 CSV / Excel 自动生成可视化图表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314033" y="66436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6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/>
      <p:bldP spid="35" grpId="0"/>
      <p:bldP spid="40" grpId="0"/>
      <p:bldP spid="45" grpId="0"/>
      <p:bldP spid="50" grpId="0"/>
      <p:bldP spid="55" grpId="0"/>
      <p:bldP spid="60" grpId="0"/>
      <p:bldP spid="65" grpId="0"/>
      <p:bldP spid="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1947386" cy="692467"/>
            <a:chOff x="504825" y="379095"/>
            <a:chExt cx="1947386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03 · 软件架构与工程设计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总体逻辑架构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19150" y="1333500"/>
            <a:ext cx="5524500" cy="5050631"/>
            <a:chOff x="819150" y="1333500"/>
            <a:chExt cx="5524500" cy="5050631"/>
          </a:xfrm>
        </p:grpSpPr>
        <p:sp>
          <p:nvSpPr>
            <p:cNvPr id="8" name="Rectangle 8"/>
            <p:cNvSpPr/>
            <p:nvPr/>
          </p:nvSpPr>
          <p:spPr>
            <a:xfrm>
              <a:off x="819150" y="1333500"/>
              <a:ext cx="5524500" cy="476250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706" y="1409700"/>
              <a:ext cx="5351387" cy="46101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2861334" y="6216491"/>
              <a:ext cx="14401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图 1 · BioNote 总体逻辑架构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8500" y="1438037"/>
            <a:ext cx="4610100" cy="686038"/>
            <a:chOff x="7048500" y="1438037"/>
            <a:chExt cx="4610100" cy="686038"/>
          </a:xfrm>
        </p:grpSpPr>
        <p:grpSp>
          <p:nvGrpSpPr>
            <p:cNvPr id="14" name="Group 14"/>
            <p:cNvGrpSpPr/>
            <p:nvPr/>
          </p:nvGrpSpPr>
          <p:grpSpPr>
            <a:xfrm>
              <a:off x="7079456" y="1452562"/>
              <a:ext cx="185738" cy="143669"/>
              <a:chOff x="7079456" y="1452562"/>
              <a:chExt cx="185738" cy="1436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079456" y="1586706"/>
                <a:ext cx="1857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525">
                    <a:moveTo>
                      <a:pt x="0" y="0"/>
                    </a:moveTo>
                    <a:lnTo>
                      <a:pt x="18573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100094" y="1452562"/>
                <a:ext cx="144463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03188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3" y="4620"/>
                      <a:pt x="144463" y="10319"/>
                    </a:cubicBezTo>
                    <a:lnTo>
                      <a:pt x="144463" y="92869"/>
                    </a:lnTo>
                    <a:cubicBezTo>
                      <a:pt x="144463" y="98568"/>
                      <a:pt x="139843" y="103188"/>
                      <a:pt x="134144" y="103188"/>
                    </a:cubicBezTo>
                    <a:lnTo>
                      <a:pt x="10319" y="103188"/>
                    </a:lnTo>
                    <a:cubicBezTo>
                      <a:pt x="4620" y="103188"/>
                      <a:pt x="0" y="98568"/>
                      <a:pt x="0" y="92869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432834" y="1438037"/>
              <a:ext cx="906454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前端 React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35691" y="1719501"/>
              <a:ext cx="21859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负责页面展示、交互状态与用户体验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048500" y="21145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048500" y="2327275"/>
            <a:ext cx="4610100" cy="692150"/>
            <a:chOff x="7048500" y="2327275"/>
            <a:chExt cx="4610100" cy="692150"/>
          </a:xfrm>
        </p:grpSpPr>
        <p:grpSp>
          <p:nvGrpSpPr>
            <p:cNvPr id="23" name="Group 23"/>
            <p:cNvGrpSpPr/>
            <p:nvPr/>
          </p:nvGrpSpPr>
          <p:grpSpPr>
            <a:xfrm>
              <a:off x="7079456" y="2327275"/>
              <a:ext cx="185738" cy="165100"/>
              <a:chOff x="7079456" y="2327275"/>
              <a:chExt cx="185738" cy="1651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079456" y="2327275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79456" y="2409825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120731" y="2368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120731" y="2451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432834" y="2333387"/>
              <a:ext cx="1391615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后端 Spring Boot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35691" y="2614851"/>
              <a:ext cx="2608086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负责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业务规则、权限、安全、事务与数据访问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048500" y="30099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048500" y="3212306"/>
            <a:ext cx="4610100" cy="702469"/>
            <a:chOff x="7048500" y="3212306"/>
            <a:chExt cx="4610100" cy="702469"/>
          </a:xfrm>
        </p:grpSpPr>
        <p:grpSp>
          <p:nvGrpSpPr>
            <p:cNvPr id="31" name="Group 31"/>
            <p:cNvGrpSpPr/>
            <p:nvPr/>
          </p:nvGrpSpPr>
          <p:grpSpPr>
            <a:xfrm>
              <a:off x="7089775" y="3212306"/>
              <a:ext cx="165100" cy="185738"/>
              <a:chOff x="7089775" y="3212306"/>
              <a:chExt cx="165100" cy="18573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89775" y="3212306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89775" y="3243262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89775" y="3305175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432834" y="3228737"/>
              <a:ext cx="1339634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MySQL + Flyway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35691" y="3510201"/>
              <a:ext cx="1298432" cy="15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数据库迁移版本化管理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048500" y="3905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048500" y="4097338"/>
            <a:ext cx="4610100" cy="941387"/>
            <a:chOff x="7048500" y="4097338"/>
            <a:chExt cx="4610100" cy="941387"/>
          </a:xfrm>
        </p:grpSpPr>
        <p:grpSp>
          <p:nvGrpSpPr>
            <p:cNvPr id="45" name="Group 45"/>
            <p:cNvGrpSpPr/>
            <p:nvPr/>
          </p:nvGrpSpPr>
          <p:grpSpPr>
            <a:xfrm>
              <a:off x="7100094" y="4097338"/>
              <a:ext cx="144462" cy="196056"/>
              <a:chOff x="7100094" y="4097338"/>
              <a:chExt cx="144462" cy="19605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110412" y="4117975"/>
                <a:ext cx="1238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2550">
                    <a:moveTo>
                      <a:pt x="0" y="20638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61912"/>
                    </a:lnTo>
                    <a:cubicBezTo>
                      <a:pt x="123825" y="73310"/>
                      <a:pt x="114585" y="82550"/>
                      <a:pt x="103188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72325" y="4097338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41369" y="4200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03281" y="4200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00094" y="422116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20637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03281" y="422116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0"/>
                    </a:moveTo>
                    <a:lnTo>
                      <a:pt x="41275" y="20637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41369" y="4262438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51688" y="4159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92962" y="4159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32834" y="4124087"/>
              <a:ext cx="1218343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Agent Runtime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35691" y="4405551"/>
              <a:ext cx="2456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后端中的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独立业务模块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，负责任务调度、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35691" y="4634151"/>
              <a:ext cx="124086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工具调用与模型适配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048500" y="50292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7079456" y="5231606"/>
            <a:ext cx="2947273" cy="503635"/>
            <a:chOff x="7079456" y="5231606"/>
            <a:chExt cx="2947273" cy="503635"/>
          </a:xfrm>
        </p:grpSpPr>
        <p:grpSp>
          <p:nvGrpSpPr>
            <p:cNvPr id="57" name="Group 57"/>
            <p:cNvGrpSpPr/>
            <p:nvPr/>
          </p:nvGrpSpPr>
          <p:grpSpPr>
            <a:xfrm>
              <a:off x="7079456" y="5231606"/>
              <a:ext cx="185738" cy="185738"/>
              <a:chOff x="7079456" y="52316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091995" y="5324475"/>
                <a:ext cx="80330" cy="80330"/>
              </a:xfrm>
              <a:custGeom>
                <a:avLst/>
                <a:gdLst/>
                <a:ahLst/>
                <a:cxnLst/>
                <a:rect l="l" t="t" r="r" b="b"/>
                <a:pathLst>
                  <a:path w="80330" h="80330">
                    <a:moveTo>
                      <a:pt x="28736" y="0"/>
                    </a:moveTo>
                    <a:lnTo>
                      <a:pt x="80330" y="51594"/>
                    </a:lnTo>
                    <a:lnTo>
                      <a:pt x="64852" y="67072"/>
                    </a:lnTo>
                    <a:cubicBezTo>
                      <a:pt x="55687" y="76539"/>
                      <a:pt x="42129" y="80330"/>
                      <a:pt x="29383" y="76988"/>
                    </a:cubicBezTo>
                    <a:cubicBezTo>
                      <a:pt x="16637" y="73647"/>
                      <a:pt x="6683" y="63693"/>
                      <a:pt x="3341" y="50947"/>
                    </a:cubicBezTo>
                    <a:cubicBezTo>
                      <a:pt x="0" y="38200"/>
                      <a:pt x="3790" y="24643"/>
                      <a:pt x="13258" y="15478"/>
                    </a:cubicBezTo>
                    <a:lnTo>
                      <a:pt x="2873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72325" y="5244145"/>
                <a:ext cx="80330" cy="80330"/>
              </a:xfrm>
              <a:custGeom>
                <a:avLst/>
                <a:gdLst/>
                <a:ahLst/>
                <a:cxnLst/>
                <a:rect l="l" t="t" r="r" b="b"/>
                <a:pathLst>
                  <a:path w="80330" h="80330">
                    <a:moveTo>
                      <a:pt x="51594" y="80330"/>
                    </a:moveTo>
                    <a:lnTo>
                      <a:pt x="0" y="28736"/>
                    </a:lnTo>
                    <a:lnTo>
                      <a:pt x="15478" y="13258"/>
                    </a:lnTo>
                    <a:cubicBezTo>
                      <a:pt x="24643" y="3790"/>
                      <a:pt x="38200" y="0"/>
                      <a:pt x="50947" y="3341"/>
                    </a:cubicBezTo>
                    <a:cubicBezTo>
                      <a:pt x="63693" y="6683"/>
                      <a:pt x="73647" y="16637"/>
                      <a:pt x="76988" y="29383"/>
                    </a:cubicBezTo>
                    <a:cubicBezTo>
                      <a:pt x="80330" y="42129"/>
                      <a:pt x="76539" y="55687"/>
                      <a:pt x="67072" y="64852"/>
                    </a:cubicBezTo>
                    <a:lnTo>
                      <a:pt x="51594" y="8033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079456" y="5391547"/>
                <a:ext cx="25797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25797" h="25797">
                    <a:moveTo>
                      <a:pt x="0" y="25797"/>
                    </a:moveTo>
                    <a:lnTo>
                      <a:pt x="2579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39397" y="5231606"/>
                <a:ext cx="25797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25797" h="25797">
                    <a:moveTo>
                      <a:pt x="0" y="25797"/>
                    </a:moveTo>
                    <a:lnTo>
                      <a:pt x="2579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131050" y="5314156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20638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62006" y="5345112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20638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432834" y="5248037"/>
              <a:ext cx="2361936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OpenAI-compatible Provider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35691" y="5529501"/>
              <a:ext cx="259103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通过</a:t>
              </a:r>
              <a:r>
                <a:rPr lang="zh-CN" sz="101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统一接口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接入外部模型，供应商可替换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7" grpId="0"/>
      <p:bldP spid="35" grpId="0"/>
      <p:bldP spid="50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1481175" cy="649605"/>
            <a:chOff x="504825" y="379095"/>
            <a:chExt cx="1481175" cy="649605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03 · 软件架构与工程设计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1481175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Agent 架构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581150" y="1276350"/>
            <a:ext cx="9029700" cy="4383881"/>
            <a:chOff x="1581150" y="1276350"/>
            <a:chExt cx="9029700" cy="4383881"/>
          </a:xfrm>
        </p:grpSpPr>
        <p:sp>
          <p:nvSpPr>
            <p:cNvPr id="8" name="Rectangle 8"/>
            <p:cNvSpPr/>
            <p:nvPr/>
          </p:nvSpPr>
          <p:spPr>
            <a:xfrm>
              <a:off x="1581150" y="1276350"/>
              <a:ext cx="90297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3216" y="1352550"/>
              <a:ext cx="8685568" cy="39433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428190" y="5492591"/>
              <a:ext cx="13356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图 2 · BioNote Agent 架构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5753100"/>
            <a:ext cx="3505200" cy="590550"/>
            <a:chOff x="533400" y="5753100"/>
            <a:chExt cx="3505200" cy="590550"/>
          </a:xfrm>
        </p:grpSpPr>
        <p:sp>
          <p:nvSpPr>
            <p:cNvPr id="12" name="Rectangle 12"/>
            <p:cNvSpPr/>
            <p:nvPr/>
          </p:nvSpPr>
          <p:spPr>
            <a:xfrm>
              <a:off x="533400" y="5753100"/>
              <a:ext cx="3505200" cy="590550"/>
            </a:xfrm>
            <a:prstGeom prst="roundRect">
              <a:avLst>
                <a:gd name="adj" fmla="val 161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8665" y="5887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任务入口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6113145"/>
              <a:ext cx="20331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Run API 写入 agent_runs 数据库队列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43400" y="5753100"/>
            <a:ext cx="3505200" cy="590550"/>
            <a:chOff x="4343400" y="5753100"/>
            <a:chExt cx="3505200" cy="590550"/>
          </a:xfrm>
        </p:grpSpPr>
        <p:sp>
          <p:nvSpPr>
            <p:cNvPr id="16" name="Rectangle 16"/>
            <p:cNvSpPr/>
            <p:nvPr/>
          </p:nvSpPr>
          <p:spPr>
            <a:xfrm>
              <a:off x="4343400" y="5753100"/>
              <a:ext cx="3505200" cy="590550"/>
            </a:xfrm>
            <a:prstGeom prst="roundRect">
              <a:avLst>
                <a:gd name="adj" fmla="val 161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8665" y="588740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执行</a:t>
              </a:r>
              <a:r>
                <a:rPr lang="zh-CN" altLang="en-US" sz="105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过程</a:t>
              </a:r>
              <a:endParaRPr lang="zh-CN" sz="1050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0570" y="6113145"/>
              <a:ext cx="27111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Worker 驱动 Harness：规划 / 工具 / 校验 / 追踪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5753100"/>
            <a:ext cx="3505200" cy="590550"/>
            <a:chOff x="8153400" y="5753100"/>
            <a:chExt cx="3505200" cy="590550"/>
          </a:xfrm>
        </p:grpSpPr>
        <p:sp>
          <p:nvSpPr>
            <p:cNvPr id="20" name="Rectangle 20"/>
            <p:cNvSpPr/>
            <p:nvPr/>
          </p:nvSpPr>
          <p:spPr>
            <a:xfrm>
              <a:off x="8153400" y="5753100"/>
              <a:ext cx="3505200" cy="590550"/>
            </a:xfrm>
            <a:prstGeom prst="roundRect">
              <a:avLst>
                <a:gd name="adj" fmla="val 161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68665" y="588740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结果输出</a:t>
              </a:r>
              <a:endParaRPr lang="zh-CN" sz="1050" b="1" dirty="0">
                <a:solidFill>
                  <a:srgbClr val="0F766E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0570" y="6113145"/>
              <a:ext cx="97622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结果固化为 Artifact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3462486" cy="649605"/>
            <a:chOff x="504825" y="379095"/>
            <a:chExt cx="3462486" cy="649605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03 · 软件架构与工程设计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3462486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基于接口的设计与设计模式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18636" y="1417558"/>
            <a:ext cx="4243864" cy="839867"/>
            <a:chOff x="518636" y="1417558"/>
            <a:chExt cx="4243864" cy="839867"/>
          </a:xfrm>
        </p:grpSpPr>
        <p:sp>
          <p:nvSpPr>
            <p:cNvPr id="7" name="TextBox 7"/>
            <p:cNvSpPr txBox="1"/>
            <p:nvPr/>
          </p:nvSpPr>
          <p:spPr>
            <a:xfrm>
              <a:off x="518636" y="1417558"/>
              <a:ext cx="2023464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Java 17 + Spring Boot 3.2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494" y="1689497"/>
              <a:ext cx="29741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按 auth / project / record / revision / restore /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494" y="1899047"/>
              <a:ext cx="153025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agent 等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业务包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组织代码。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22479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18636" y="2427208"/>
            <a:ext cx="4243864" cy="630317"/>
            <a:chOff x="518636" y="2427208"/>
            <a:chExt cx="4243864" cy="630317"/>
          </a:xfrm>
        </p:grpSpPr>
        <p:sp>
          <p:nvSpPr>
            <p:cNvPr id="12" name="TextBox 12"/>
            <p:cNvSpPr txBox="1"/>
            <p:nvPr/>
          </p:nvSpPr>
          <p:spPr>
            <a:xfrm>
              <a:off x="518636" y="2427208"/>
              <a:ext cx="843379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Controller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1494" y="2699147"/>
              <a:ext cx="24991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只负责 HTTP 协议转换，不写复杂业务逻辑。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33400" y="30480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18636" y="3227308"/>
            <a:ext cx="4243864" cy="630317"/>
            <a:chOff x="518636" y="3227308"/>
            <a:chExt cx="4243864" cy="630317"/>
          </a:xfrm>
        </p:grpSpPr>
        <p:sp>
          <p:nvSpPr>
            <p:cNvPr id="16" name="TextBox 16"/>
            <p:cNvSpPr txBox="1"/>
            <p:nvPr/>
          </p:nvSpPr>
          <p:spPr>
            <a:xfrm>
              <a:off x="518636" y="3227308"/>
              <a:ext cx="656193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UseCase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1494" y="3499247"/>
              <a:ext cx="25241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表达应用入口，定义系统可提供的业务操作。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33400" y="38481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18636" y="4027408"/>
            <a:ext cx="4243864" cy="630317"/>
            <a:chOff x="518636" y="4027408"/>
            <a:chExt cx="4243864" cy="630317"/>
          </a:xfrm>
        </p:grpSpPr>
        <p:sp>
          <p:nvSpPr>
            <p:cNvPr id="20" name="TextBox 20"/>
            <p:cNvSpPr txBox="1"/>
            <p:nvPr/>
          </p:nvSpPr>
          <p:spPr>
            <a:xfrm>
              <a:off x="518636" y="4027408"/>
              <a:ext cx="61550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Service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494" y="4299347"/>
              <a:ext cx="202406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承担权限、状态、事务与业务规则。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46482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DCE4E2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8636" y="4827508"/>
            <a:ext cx="3202067" cy="881539"/>
            <a:chOff x="518636" y="4827508"/>
            <a:chExt cx="3202067" cy="881539"/>
          </a:xfrm>
        </p:grpSpPr>
        <p:sp>
          <p:nvSpPr>
            <p:cNvPr id="24" name="TextBox 24"/>
            <p:cNvSpPr txBox="1"/>
            <p:nvPr/>
          </p:nvSpPr>
          <p:spPr>
            <a:xfrm>
              <a:off x="518636" y="4827508"/>
              <a:ext cx="160026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Store Port + Flyway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94" y="5099447"/>
              <a:ext cx="31992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Store / Repository Port 隔离持久化，infrastructure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1494" y="5308997"/>
              <a:ext cx="26366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实现 JPA / JDBC / 文件 / Provider Adapter；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1494" y="5518547"/>
              <a:ext cx="191779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Flyway V1–V13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管理数据库演化。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95900" y="1333500"/>
            <a:ext cx="6362700" cy="4364831"/>
            <a:chOff x="5295900" y="1333500"/>
            <a:chExt cx="6362700" cy="4364831"/>
          </a:xfrm>
        </p:grpSpPr>
        <p:sp>
          <p:nvSpPr>
            <p:cNvPr id="29" name="Rectangle 29"/>
            <p:cNvSpPr/>
            <p:nvPr/>
          </p:nvSpPr>
          <p:spPr>
            <a:xfrm>
              <a:off x="5295900" y="1333500"/>
              <a:ext cx="6362700" cy="4076700"/>
            </a:xfrm>
            <a:prstGeom prst="roundRect">
              <a:avLst>
                <a:gd name="adj" fmla="val 186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2100" y="1474029"/>
              <a:ext cx="6210300" cy="3795643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7592163" y="5530691"/>
              <a:ext cx="17701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图 4 · BioNote 后端分层与接口视图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  <p:bldP spid="28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3837623" cy="692467"/>
            <a:chOff x="504825" y="379095"/>
            <a:chExt cx="3837623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03 · 软件架构与工程设计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38376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基于接口的设计与设计模式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19112" y="1269206"/>
            <a:ext cx="3567113" cy="2544038"/>
            <a:chOff x="519112" y="1269206"/>
            <a:chExt cx="3567113" cy="2544038"/>
          </a:xfrm>
        </p:grpSpPr>
        <p:sp>
          <p:nvSpPr>
            <p:cNvPr id="8" name="TextBox 8"/>
            <p:cNvSpPr txBox="1"/>
            <p:nvPr/>
          </p:nvSpPr>
          <p:spPr>
            <a:xfrm>
              <a:off x="519112" y="1269206"/>
              <a:ext cx="2485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输入侧 · Controller 依赖 UseCase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5811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1041" y="1729026"/>
              <a:ext cx="120239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RecordController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305050" y="19812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247900" y="21336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288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0F766E">
                <a:alpha val="14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1041" y="2376726"/>
              <a:ext cx="160642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RecordUseCase（接口）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05050" y="26289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247900" y="27813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65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1041" y="3024426"/>
              <a:ext cx="100391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RecordService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970" y="3465195"/>
              <a:ext cx="219290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权限、状态转换与事务规则在业务层完成</a:t>
              </a:r>
              <a:r>
                <a:rPr lang="zh-CN" altLang="en-US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  <a:endParaRPr lang="zh-CN" sz="900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1970" y="3674745"/>
              <a:ext cx="6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00538" y="1269206"/>
            <a:ext cx="3567112" cy="3236119"/>
            <a:chOff x="4300538" y="1269206"/>
            <a:chExt cx="3567112" cy="3236119"/>
          </a:xfrm>
        </p:grpSpPr>
        <p:sp>
          <p:nvSpPr>
            <p:cNvPr id="22" name="TextBox 22"/>
            <p:cNvSpPr txBox="1"/>
            <p:nvPr/>
          </p:nvSpPr>
          <p:spPr>
            <a:xfrm>
              <a:off x="4300538" y="1269206"/>
              <a:ext cx="25410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输出侧 · 业务层通过 Port 访问资源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14825" y="15811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92466" y="1729026"/>
              <a:ext cx="100391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RecordService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86475" y="19812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029325" y="21336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14825" y="22288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0F766E">
                <a:alpha val="14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92466" y="2376726"/>
              <a:ext cx="180490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RecordStore（Port 接口）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86475" y="26289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29325" y="27813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14825" y="28765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92466" y="3024426"/>
              <a:ext cx="194667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JpaRecordStore（Adapter）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86475" y="32766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6029325" y="34290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14825" y="3524250"/>
              <a:ext cx="3552825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92466" y="3672126"/>
              <a:ext cx="18757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Spring Data JPA Repository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03395" y="4112895"/>
              <a:ext cx="19190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Spring Data JPA 与数据库表结构，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03395" y="43224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被封装在 Adapter 内部。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81962" y="1269206"/>
            <a:ext cx="3576638" cy="2588419"/>
            <a:chOff x="8081962" y="1269206"/>
            <a:chExt cx="3576638" cy="2588419"/>
          </a:xfrm>
        </p:grpSpPr>
        <p:sp>
          <p:nvSpPr>
            <p:cNvPr id="40" name="TextBox 40"/>
            <p:cNvSpPr txBox="1"/>
            <p:nvPr/>
          </p:nvSpPr>
          <p:spPr>
            <a:xfrm>
              <a:off x="8081962" y="1269206"/>
              <a:ext cx="1792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Agent 侧 · 三处接口隔离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96250" y="1581150"/>
              <a:ext cx="3562350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74844" y="1651397"/>
              <a:ext cx="110676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AgentModelClient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76749" y="1829514"/>
              <a:ext cx="140092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策略 + 适配器隔离模型供应商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877425" y="19812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820275" y="21336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96250" y="2228850"/>
              <a:ext cx="3562350" cy="400050"/>
            </a:xfrm>
            <a:prstGeom prst="roundRect">
              <a:avLst>
                <a:gd name="adj" fmla="val 21429"/>
              </a:avLst>
            </a:prstGeom>
            <a:solidFill>
              <a:srgbClr val="0F766E">
                <a:alpha val="14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4844" y="2299097"/>
              <a:ext cx="9951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AgentTool&lt;I,O&gt;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6749" y="2477214"/>
              <a:ext cx="1458682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工具扩展 SPI，自动发现与校验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877425" y="26289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0F766E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9820275" y="27813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96250" y="2876550"/>
              <a:ext cx="3562350" cy="40005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74844" y="2946797"/>
              <a:ext cx="136929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AgentResultValidator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76749" y="3124914"/>
              <a:ext cx="1395674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Schema / Evidence 校验解耦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84820" y="346519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新增模型、工具或验证器时，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84820" y="3674745"/>
              <a:ext cx="1637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不需要修改 Harness 主循环</a:t>
              </a:r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33400" y="4724400"/>
            <a:ext cx="5448300" cy="1447800"/>
            <a:chOff x="533400" y="4724400"/>
            <a:chExt cx="5448300" cy="1447800"/>
          </a:xfrm>
        </p:grpSpPr>
        <p:sp>
          <p:nvSpPr>
            <p:cNvPr id="57" name="Rectangle 57"/>
            <p:cNvSpPr/>
            <p:nvPr/>
          </p:nvSpPr>
          <p:spPr>
            <a:xfrm>
              <a:off x="533400" y="4724400"/>
              <a:ext cx="5448300" cy="144780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72440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69156" y="4964906"/>
              <a:ext cx="185738" cy="185738"/>
              <a:chOff x="869156" y="49649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81695" y="5057775"/>
                <a:ext cx="80330" cy="80330"/>
              </a:xfrm>
              <a:custGeom>
                <a:avLst/>
                <a:gdLst/>
                <a:ahLst/>
                <a:cxnLst/>
                <a:rect l="l" t="t" r="r" b="b"/>
                <a:pathLst>
                  <a:path w="80330" h="80330">
                    <a:moveTo>
                      <a:pt x="28736" y="0"/>
                    </a:moveTo>
                    <a:lnTo>
                      <a:pt x="80330" y="51594"/>
                    </a:lnTo>
                    <a:lnTo>
                      <a:pt x="64852" y="67072"/>
                    </a:lnTo>
                    <a:cubicBezTo>
                      <a:pt x="55687" y="76539"/>
                      <a:pt x="42129" y="80330"/>
                      <a:pt x="29383" y="76988"/>
                    </a:cubicBezTo>
                    <a:cubicBezTo>
                      <a:pt x="16637" y="73647"/>
                      <a:pt x="6683" y="63693"/>
                      <a:pt x="3341" y="50947"/>
                    </a:cubicBezTo>
                    <a:cubicBezTo>
                      <a:pt x="0" y="38200"/>
                      <a:pt x="3790" y="24643"/>
                      <a:pt x="13258" y="15478"/>
                    </a:cubicBezTo>
                    <a:lnTo>
                      <a:pt x="2873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62025" y="4977445"/>
                <a:ext cx="80330" cy="80330"/>
              </a:xfrm>
              <a:custGeom>
                <a:avLst/>
                <a:gdLst/>
                <a:ahLst/>
                <a:cxnLst/>
                <a:rect l="l" t="t" r="r" b="b"/>
                <a:pathLst>
                  <a:path w="80330" h="80330">
                    <a:moveTo>
                      <a:pt x="51594" y="80330"/>
                    </a:moveTo>
                    <a:lnTo>
                      <a:pt x="0" y="28736"/>
                    </a:lnTo>
                    <a:lnTo>
                      <a:pt x="15478" y="13258"/>
                    </a:lnTo>
                    <a:cubicBezTo>
                      <a:pt x="24643" y="3790"/>
                      <a:pt x="38200" y="0"/>
                      <a:pt x="50947" y="3341"/>
                    </a:cubicBezTo>
                    <a:cubicBezTo>
                      <a:pt x="63693" y="6683"/>
                      <a:pt x="73647" y="16637"/>
                      <a:pt x="76988" y="29383"/>
                    </a:cubicBezTo>
                    <a:cubicBezTo>
                      <a:pt x="80330" y="42129"/>
                      <a:pt x="76539" y="55687"/>
                      <a:pt x="67072" y="64852"/>
                    </a:cubicBezTo>
                    <a:lnTo>
                      <a:pt x="51594" y="8033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69156" y="5124847"/>
                <a:ext cx="25797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25797" h="25797">
                    <a:moveTo>
                      <a:pt x="0" y="25797"/>
                    </a:moveTo>
                    <a:lnTo>
                      <a:pt x="2579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29097" y="4964906"/>
                <a:ext cx="25797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25797" h="25797">
                    <a:moveTo>
                      <a:pt x="0" y="25797"/>
                    </a:moveTo>
                    <a:lnTo>
                      <a:pt x="2579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20750" y="5047456"/>
                <a:ext cx="206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8">
                    <a:moveTo>
                      <a:pt x="20637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1706" y="5078412"/>
                <a:ext cx="206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8">
                    <a:moveTo>
                      <a:pt x="20637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203960" y="4985385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适配器模式 Adapter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5818" y="5343049"/>
              <a:ext cx="30346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核心业务只定义自己需要的接口，JPA、JDBC 与模型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5818" y="5571649"/>
              <a:ext cx="2904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Provider 在基础设施层实现这些接口 —— </a:t>
              </a:r>
              <a:r>
                <a:rPr lang="zh-CN" sz="97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技术实现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5818" y="58002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可替换，而不影响业务逻辑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210300" y="4724400"/>
            <a:ext cx="5448300" cy="1447800"/>
            <a:chOff x="6210300" y="4724400"/>
            <a:chExt cx="5448300" cy="1447800"/>
          </a:xfrm>
        </p:grpSpPr>
        <p:sp>
          <p:nvSpPr>
            <p:cNvPr id="71" name="Rectangle 71"/>
            <p:cNvSpPr/>
            <p:nvPr/>
          </p:nvSpPr>
          <p:spPr>
            <a:xfrm>
              <a:off x="6210300" y="4724400"/>
              <a:ext cx="5448300" cy="144780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10300" y="472440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546056" y="4995862"/>
              <a:ext cx="185737" cy="123825"/>
              <a:chOff x="6546056" y="4995862"/>
              <a:chExt cx="185737" cy="1238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587331" y="4995862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0" y="41275"/>
                    </a:moveTo>
                    <a:lnTo>
                      <a:pt x="144462" y="41275"/>
                    </a:ln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46056" y="5078412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144462" y="0"/>
                    </a:moveTo>
                    <a:lnTo>
                      <a:pt x="0" y="0"/>
                    </a:lnTo>
                    <a:lnTo>
                      <a:pt x="41275" y="412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880860" y="4985385"/>
              <a:ext cx="22399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状态模式思想 State Machine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02718" y="5343049"/>
              <a:ext cx="3145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实验记录生命周期建模为明确的状态机，不同状态具有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02718" y="55716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不同的操作规则；规则集中在 </a:t>
              </a:r>
              <a:r>
                <a:rPr lang="zh-CN" sz="97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RecordActionPolicy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02718" y="5800249"/>
              <a:ext cx="30541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Controller 与前端页面不再分别编写大量权限判断。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9" grpId="0"/>
      <p:bldP spid="56" grpId="0"/>
      <p:bldP spid="70" grpId="0"/>
      <p:bldP spid="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5759363" cy="692467"/>
            <a:chOff x="504825" y="379095"/>
            <a:chExt cx="5759363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 · 关键技术与质量保障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57593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关键技术一：认证、Policy 与对象级授权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400" y="1238250"/>
            <a:ext cx="11125200" cy="723900"/>
            <a:chOff x="533400" y="1238250"/>
            <a:chExt cx="11125200" cy="7239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11125200" cy="723900"/>
            </a:xfrm>
            <a:prstGeom prst="roundRect">
              <a:avLst>
                <a:gd name="adj" fmla="val 1578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76300" y="1485902"/>
              <a:ext cx="228598" cy="228598"/>
              <a:chOff x="876300" y="1485902"/>
              <a:chExt cx="228598" cy="2285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6300" y="1485902"/>
                <a:ext cx="228598" cy="228598"/>
              </a:xfrm>
              <a:custGeom>
                <a:avLst/>
                <a:gdLst/>
                <a:ahLst/>
                <a:cxnLst/>
                <a:rect l="l" t="t" r="r" b="b"/>
                <a:pathLst>
                  <a:path w="228598" h="228598">
                    <a:moveTo>
                      <a:pt x="172148" y="10704"/>
                    </a:moveTo>
                    <a:lnTo>
                      <a:pt x="217894" y="56449"/>
                    </a:lnTo>
                    <a:cubicBezTo>
                      <a:pt x="224747" y="63301"/>
                      <a:pt x="228598" y="72596"/>
                      <a:pt x="228598" y="82287"/>
                    </a:cubicBezTo>
                    <a:cubicBezTo>
                      <a:pt x="228598" y="91979"/>
                      <a:pt x="224747" y="101273"/>
                      <a:pt x="217894" y="108125"/>
                    </a:cubicBezTo>
                    <a:lnTo>
                      <a:pt x="184328" y="141691"/>
                    </a:lnTo>
                    <a:cubicBezTo>
                      <a:pt x="177475" y="148545"/>
                      <a:pt x="168181" y="152395"/>
                      <a:pt x="158490" y="152395"/>
                    </a:cubicBezTo>
                    <a:cubicBezTo>
                      <a:pt x="148798" y="152395"/>
                      <a:pt x="139504" y="148545"/>
                      <a:pt x="132651" y="141691"/>
                    </a:cubicBezTo>
                    <a:lnTo>
                      <a:pt x="128829" y="137869"/>
                    </a:lnTo>
                    <a:lnTo>
                      <a:pt x="45542" y="221155"/>
                    </a:lnTo>
                    <a:cubicBezTo>
                      <a:pt x="41322" y="225375"/>
                      <a:pt x="35751" y="227973"/>
                      <a:pt x="29807" y="228496"/>
                    </a:cubicBezTo>
                    <a:lnTo>
                      <a:pt x="27584" y="228598"/>
                    </a:lnTo>
                    <a:lnTo>
                      <a:pt x="12700" y="228598"/>
                    </a:lnTo>
                    <a:cubicBezTo>
                      <a:pt x="6261" y="228597"/>
                      <a:pt x="842" y="223778"/>
                      <a:pt x="89" y="217383"/>
                    </a:cubicBezTo>
                    <a:lnTo>
                      <a:pt x="0" y="215898"/>
                    </a:lnTo>
                    <a:lnTo>
                      <a:pt x="0" y="201013"/>
                    </a:lnTo>
                    <a:cubicBezTo>
                      <a:pt x="1" y="195050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8"/>
                    </a:lnTo>
                    <a:lnTo>
                      <a:pt x="38100" y="177798"/>
                    </a:lnTo>
                    <a:lnTo>
                      <a:pt x="38100" y="152398"/>
                    </a:lnTo>
                    <a:lnTo>
                      <a:pt x="63500" y="152398"/>
                    </a:lnTo>
                    <a:lnTo>
                      <a:pt x="63500" y="126998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4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5" y="3850"/>
                      <a:pt x="136619" y="0"/>
                      <a:pt x="146310" y="0"/>
                    </a:cubicBezTo>
                    <a:cubicBezTo>
                      <a:pt x="156002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8700" y="1562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18260" y="1394460"/>
              <a:ext cx="48946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「已经登录」≠「有权操作这个对象」—— 身份认证与授权分开处理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1118" y="1685449"/>
              <a:ext cx="352660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Spring Security 无状态 </a:t>
              </a:r>
              <a:r>
                <a:rPr lang="zh-CN" sz="97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JWT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恢复请求身份，密码 </a:t>
              </a:r>
              <a:r>
                <a:rPr lang="zh-CN" sz="97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BCrypt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存储。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2171700"/>
            <a:ext cx="5448300" cy="1790700"/>
            <a:chOff x="533400" y="2171700"/>
            <a:chExt cx="5448300" cy="1790700"/>
          </a:xfrm>
        </p:grpSpPr>
        <p:sp>
          <p:nvSpPr>
            <p:cNvPr id="15" name="Rectangle 15"/>
            <p:cNvSpPr/>
            <p:nvPr/>
          </p:nvSpPr>
          <p:spPr>
            <a:xfrm>
              <a:off x="533400" y="2171700"/>
              <a:ext cx="54483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0100" y="240030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02856" y="2516981"/>
              <a:ext cx="201507" cy="185738"/>
              <a:chOff x="902856" y="2516981"/>
              <a:chExt cx="201507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02856" y="2516981"/>
                <a:ext cx="201507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7" h="184148">
                    <a:moveTo>
                      <a:pt x="101222" y="184148"/>
                    </a:moveTo>
                    <a:cubicBezTo>
                      <a:pt x="36580" y="164111"/>
                      <a:pt x="0" y="95886"/>
                      <a:pt x="19085" y="30956"/>
                    </a:cubicBezTo>
                    <a:cubicBezTo>
                      <a:pt x="51233" y="32427"/>
                      <a:pt x="82692" y="21324"/>
                      <a:pt x="106794" y="0"/>
                    </a:cubicBezTo>
                    <a:cubicBezTo>
                      <a:pt x="130897" y="21324"/>
                      <a:pt x="162355" y="32427"/>
                      <a:pt x="194504" y="30956"/>
                    </a:cubicBezTo>
                    <a:cubicBezTo>
                      <a:pt x="201507" y="54783"/>
                      <a:pt x="201183" y="80166"/>
                      <a:pt x="193575" y="103807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40606" y="2661444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55884" y="2457212"/>
              <a:ext cx="1590877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角色与对象同时约束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122" y="2692241"/>
              <a:ext cx="8122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RBAC × OBJECT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718" y="3037999"/>
              <a:ext cx="32491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OWNER / MEMBER / REVIEWER 提供角色边界；项目成员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7718" y="3266599"/>
              <a:ext cx="3379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关系、资源所有权与 reviewerId 继续限制具体对象，防止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7718" y="349519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同角色用户</a:t>
              </a:r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横向访问其他项目或修改他人记录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0300" y="2171700"/>
            <a:ext cx="5448300" cy="1790700"/>
            <a:chOff x="6210300" y="2171700"/>
            <a:chExt cx="5448300" cy="1790700"/>
          </a:xfrm>
        </p:grpSpPr>
        <p:sp>
          <p:nvSpPr>
            <p:cNvPr id="26" name="Rectangle 26"/>
            <p:cNvSpPr/>
            <p:nvPr/>
          </p:nvSpPr>
          <p:spPr>
            <a:xfrm>
              <a:off x="6210300" y="2171700"/>
              <a:ext cx="54483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0" y="240030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593681" y="2547938"/>
              <a:ext cx="185737" cy="123825"/>
              <a:chOff x="6593681" y="2547938"/>
              <a:chExt cx="185737" cy="1238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634956" y="2547938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0" y="41275"/>
                    </a:moveTo>
                    <a:lnTo>
                      <a:pt x="144462" y="41275"/>
                    </a:ln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93681" y="2630488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144462" y="0"/>
                    </a:moveTo>
                    <a:lnTo>
                      <a:pt x="0" y="0"/>
                    </a:lnTo>
                    <a:lnTo>
                      <a:pt x="41275" y="412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032784" y="2457212"/>
              <a:ext cx="1590877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状态决定可执行动作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8022" y="2692241"/>
              <a:ext cx="75447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STATE-DRIVEN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5570" y="3046095"/>
              <a:ext cx="2723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IN_PROGRESS / CHANGES_REQUESTED → IN_REVIEW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5570" y="327469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→ CHANGES_REQUESTED / COMPLETED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618" y="3533299"/>
              <a:ext cx="32751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审核期间冻结内容与附件，完成后永久只读；只有创建者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4618" y="3742849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能编辑，只有当前指定审核人能作出审核结论。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4114800"/>
            <a:ext cx="5448300" cy="1790700"/>
            <a:chOff x="533400" y="4114800"/>
            <a:chExt cx="5448300" cy="1790700"/>
          </a:xfrm>
        </p:grpSpPr>
        <p:sp>
          <p:nvSpPr>
            <p:cNvPr id="38" name="Rectangle 38"/>
            <p:cNvSpPr/>
            <p:nvPr/>
          </p:nvSpPr>
          <p:spPr>
            <a:xfrm>
              <a:off x="533400" y="4114800"/>
              <a:ext cx="54483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0100" y="434340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16781" y="4491038"/>
              <a:ext cx="185738" cy="143668"/>
              <a:chOff x="916781" y="4491038"/>
              <a:chExt cx="185738" cy="14366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16781" y="4625181"/>
                <a:ext cx="1857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525">
                    <a:moveTo>
                      <a:pt x="0" y="0"/>
                    </a:moveTo>
                    <a:lnTo>
                      <a:pt x="18573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37419" y="4491038"/>
                <a:ext cx="144462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7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2" y="4620"/>
                      <a:pt x="144462" y="10319"/>
                    </a:cubicBezTo>
                    <a:lnTo>
                      <a:pt x="144462" y="92869"/>
                    </a:lnTo>
                    <a:cubicBezTo>
                      <a:pt x="144462" y="98568"/>
                      <a:pt x="139843" y="103187"/>
                      <a:pt x="134144" y="103187"/>
                    </a:cubicBezTo>
                    <a:lnTo>
                      <a:pt x="10319" y="103187"/>
                    </a:lnTo>
                    <a:cubicBezTo>
                      <a:pt x="4620" y="103187"/>
                      <a:pt x="0" y="98568"/>
                      <a:pt x="0" y="92869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355884" y="4400312"/>
              <a:ext cx="2283964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前端只展示能力，不承担授权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1122" y="4635341"/>
              <a:ext cx="6967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CAPABILITIES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7718" y="4981099"/>
              <a:ext cx="28721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后端返回 </a:t>
              </a:r>
              <a:r>
                <a:rPr lang="zh-CN" sz="90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canEdit / canSubmit / canRestore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7718" y="5209699"/>
              <a:ext cx="32231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capabilities，前端据此呈现操作入口；每次 API 调用仍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718" y="543829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重新授权，</a:t>
              </a:r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修改页面状态或伪造请求不能绕过规则</a:t>
              </a:r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10300" y="4114800"/>
            <a:ext cx="5448300" cy="1790700"/>
            <a:chOff x="6210300" y="4114800"/>
            <a:chExt cx="5448300" cy="1790700"/>
          </a:xfrm>
        </p:grpSpPr>
        <p:sp>
          <p:nvSpPr>
            <p:cNvPr id="49" name="Rectangle 49"/>
            <p:cNvSpPr/>
            <p:nvPr/>
          </p:nvSpPr>
          <p:spPr>
            <a:xfrm>
              <a:off x="6210300" y="4114800"/>
              <a:ext cx="54483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7000" y="434340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14319" y="4460081"/>
              <a:ext cx="144463" cy="185737"/>
              <a:chOff x="6614319" y="4460081"/>
              <a:chExt cx="144463" cy="18573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14319" y="4542631"/>
                <a:ext cx="144463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03187">
                    <a:moveTo>
                      <a:pt x="0" y="20637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23825" y="0"/>
                    </a:lnTo>
                    <a:cubicBezTo>
                      <a:pt x="135223" y="0"/>
                      <a:pt x="144463" y="9240"/>
                      <a:pt x="144463" y="20637"/>
                    </a:cubicBezTo>
                    <a:lnTo>
                      <a:pt x="144463" y="82550"/>
                    </a:lnTo>
                    <a:cubicBezTo>
                      <a:pt x="144463" y="93948"/>
                      <a:pt x="135223" y="103187"/>
                      <a:pt x="123825" y="103187"/>
                    </a:cubicBezTo>
                    <a:lnTo>
                      <a:pt x="20638" y="103187"/>
                    </a:lnTo>
                    <a:cubicBezTo>
                      <a:pt x="9240" y="103187"/>
                      <a:pt x="0" y="93948"/>
                      <a:pt x="0" y="8255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76231" y="4583906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45275" y="4460081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1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032784" y="4400312"/>
              <a:ext cx="1071062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减少信息泄露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8022" y="4635341"/>
              <a:ext cx="1025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ANTI-ENUMERATION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4618" y="498109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对不可见资源使用统一的</a:t>
              </a:r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「资源不存在或无权访问」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4618" y="5209699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语义，避免攻击者通过枚举 ID 探测其他项目的数据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4618" y="543829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边界。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314033" y="66246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14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  <p:bldP spid="37" grpId="0"/>
      <p:bldP spid="48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8263926" cy="692467"/>
            <a:chOff x="504825" y="379095"/>
            <a:chExt cx="8263926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 · 关键技术与质量保障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82639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关键技术二：Working Copy、不可变 Revision 与领域 Diff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390650"/>
            <a:ext cx="3429000" cy="1428750"/>
            <a:chOff x="533400" y="1390650"/>
            <a:chExt cx="34290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390650"/>
              <a:ext cx="3429000" cy="1428750"/>
            </a:xfrm>
            <a:prstGeom prst="roundRect">
              <a:avLst>
                <a:gd name="adj" fmla="val 8000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47725" y="1628775"/>
              <a:ext cx="133350" cy="171450"/>
              <a:chOff x="847725" y="1628775"/>
              <a:chExt cx="1333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47725" y="1647825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5825" y="16287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85825" y="1714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3925" y="17145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5825" y="175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23925" y="17526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27284" y="1647587"/>
              <a:ext cx="1868112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Working Copy 工作副本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194" y="2013347"/>
              <a:ext cx="21490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持续编辑，自动保存只更新工作副本，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194" y="224194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内容随时可变，不产生历史。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76700" y="1851422"/>
            <a:ext cx="838200" cy="253604"/>
            <a:chOff x="4076700" y="1851422"/>
            <a:chExt cx="838200" cy="253604"/>
          </a:xfrm>
        </p:grpSpPr>
        <p:sp>
          <p:nvSpPr>
            <p:cNvPr id="20" name="Line 20"/>
            <p:cNvSpPr/>
            <p:nvPr/>
          </p:nvSpPr>
          <p:spPr>
            <a:xfrm>
              <a:off x="4076700" y="2105025"/>
              <a:ext cx="8382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21361" y="1851422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提交审核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29200" y="1333500"/>
            <a:ext cx="3143250" cy="1543050"/>
            <a:chOff x="5029200" y="1333500"/>
            <a:chExt cx="3143250" cy="1543050"/>
          </a:xfrm>
        </p:grpSpPr>
        <p:sp>
          <p:nvSpPr>
            <p:cNvPr id="24" name="Rectangle 24"/>
            <p:cNvSpPr/>
            <p:nvPr/>
          </p:nvSpPr>
          <p:spPr>
            <a:xfrm>
              <a:off x="5029200" y="1333500"/>
              <a:ext cx="3143250" cy="154305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292725" y="1548606"/>
              <a:ext cx="139700" cy="122237"/>
              <a:chOff x="5292725" y="1548606"/>
              <a:chExt cx="139700" cy="1222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345112" y="1548606"/>
                <a:ext cx="87313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122237">
                    <a:moveTo>
                      <a:pt x="0" y="17462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69850" y="0"/>
                    </a:lnTo>
                    <a:cubicBezTo>
                      <a:pt x="79494" y="0"/>
                      <a:pt x="87313" y="7818"/>
                      <a:pt x="87313" y="17462"/>
                    </a:cubicBezTo>
                    <a:lnTo>
                      <a:pt x="87313" y="104775"/>
                    </a:lnTo>
                    <a:cubicBezTo>
                      <a:pt x="87313" y="114419"/>
                      <a:pt x="79494" y="122237"/>
                      <a:pt x="69850" y="122237"/>
                    </a:cubicBezTo>
                    <a:lnTo>
                      <a:pt x="17463" y="122237"/>
                    </a:lnTo>
                    <a:cubicBezTo>
                      <a:pt x="7818" y="122237"/>
                      <a:pt x="0" y="114419"/>
                      <a:pt x="0" y="104775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18919" y="1566069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292725" y="1574800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548312" y="1545431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不可变 Revision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57800" y="1828800"/>
              <a:ext cx="819150" cy="285750"/>
            </a:xfrm>
            <a:prstGeom prst="roundRect">
              <a:avLst>
                <a:gd name="adj" fmla="val 26667"/>
              </a:avLst>
            </a:prstGeom>
            <a:solidFill>
              <a:srgbClr val="0F766E">
                <a:alpha val="14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9908" y="19140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R1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1828800"/>
              <a:ext cx="819150" cy="285750"/>
            </a:xfrm>
            <a:prstGeom prst="roundRect">
              <a:avLst>
                <a:gd name="adj" fmla="val 26667"/>
              </a:avLst>
            </a:prstGeom>
            <a:solidFill>
              <a:srgbClr val="0F766E">
                <a:alpha val="14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3358" y="19140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R2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24700" y="1828800"/>
              <a:ext cx="819150" cy="285750"/>
            </a:xfrm>
            <a:prstGeom prst="roundRect">
              <a:avLst>
                <a:gd name="adj" fmla="val 26667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46808" y="19140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46370" y="228409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历史版本不会被覆盖；模板结构随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6370" y="2493645"/>
              <a:ext cx="20871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Revision 保存，改模板不改历史含义。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3143250"/>
            <a:ext cx="3552825" cy="2857500"/>
            <a:chOff x="533400" y="3143250"/>
            <a:chExt cx="3552825" cy="2857500"/>
          </a:xfrm>
        </p:grpSpPr>
        <p:sp>
          <p:nvSpPr>
            <p:cNvPr id="45" name="Rectangle 45"/>
            <p:cNvSpPr/>
            <p:nvPr/>
          </p:nvSpPr>
          <p:spPr>
            <a:xfrm>
              <a:off x="533400" y="3143250"/>
              <a:ext cx="3552825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3143250"/>
              <a:ext cx="3552825" cy="47625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5812" y="3479006"/>
              <a:ext cx="1540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SnapshotNormalizer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289" y="3711654"/>
              <a:ext cx="63669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语义快照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194" y="4089797"/>
              <a:ext cx="178028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将固定字段、模板字段、TipTap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8194" y="43183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正文块、附件和审核元数据整理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8194" y="45469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为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稳定结构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，消除序列化顺序、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8194" y="47755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格式差异带来的噪声。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14825" y="3143250"/>
            <a:ext cx="3552825" cy="2857500"/>
            <a:chOff x="4314825" y="3143250"/>
            <a:chExt cx="3552825" cy="2857500"/>
          </a:xfrm>
        </p:grpSpPr>
        <p:sp>
          <p:nvSpPr>
            <p:cNvPr id="55" name="Rectangle 55"/>
            <p:cNvSpPr/>
            <p:nvPr/>
          </p:nvSpPr>
          <p:spPr>
            <a:xfrm>
              <a:off x="4314825" y="3143250"/>
              <a:ext cx="3552825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14825" y="3143250"/>
              <a:ext cx="3552825" cy="47625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67238" y="3479006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SHA-256 Hash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67714" y="37116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规范化与内容指纹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69619" y="40897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数字、日期、换行和空白先规范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69619" y="43183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化，再按稳定顺序序列化并计算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69619" y="4546997"/>
              <a:ext cx="116770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SHA-256 内容指纹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3143250"/>
            <a:ext cx="3562350" cy="2857500"/>
            <a:chOff x="8096250" y="3143250"/>
            <a:chExt cx="3562350" cy="2857500"/>
          </a:xfrm>
        </p:grpSpPr>
        <p:sp>
          <p:nvSpPr>
            <p:cNvPr id="65" name="Rectangle 65"/>
            <p:cNvSpPr/>
            <p:nvPr/>
          </p:nvSpPr>
          <p:spPr>
            <a:xfrm>
              <a:off x="8096250" y="3143250"/>
              <a:ext cx="356235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96250" y="3143250"/>
              <a:ext cx="3562350" cy="47625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401050" y="3419475"/>
              <a:ext cx="152400" cy="171450"/>
              <a:chOff x="8401050" y="3419475"/>
              <a:chExt cx="152400" cy="17145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401050" y="3429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15350" y="35433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67725" y="34480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0" y="0"/>
                    </a:moveTo>
                    <a:lnTo>
                      <a:pt x="47625" y="0"/>
                    </a:lnTo>
                    <a:cubicBezTo>
                      <a:pt x="58146" y="0"/>
                      <a:pt x="66675" y="8529"/>
                      <a:pt x="66675" y="19050"/>
                    </a:cubicBezTo>
                    <a:lnTo>
                      <a:pt x="66675" y="952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467725" y="34194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28575" y="57150"/>
                    </a:moveTo>
                    <a:lnTo>
                      <a:pt x="0" y="28575"/>
                    </a:ln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420100" y="346710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95250"/>
                    </a:move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458200" y="35337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8672989" y="3483054"/>
              <a:ext cx="9793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领域感知 Diff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51044" y="3937397"/>
              <a:ext cx="191154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固定字段与模板字段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按 Key 对齐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51044" y="4204097"/>
              <a:ext cx="14489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附件按 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UUID 做集合比较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51044" y="4470797"/>
              <a:ext cx="16240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块内文本采用动态规划 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LCS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51044" y="473749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（最长公共子序列）逐块比较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362950" y="5143500"/>
              <a:ext cx="723900" cy="266700"/>
            </a:xfrm>
            <a:prstGeom prst="roundRect">
              <a:avLst>
                <a:gd name="adj" fmla="val 2142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52152" y="5235416"/>
              <a:ext cx="3454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5606B"/>
                  </a:solidFill>
                  <a:latin typeface="Consolas"/>
                  <a:ea typeface="Microsoft YaHei"/>
                  <a:cs typeface="Consolas"/>
                </a:rPr>
                <a:t>EQUAL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163050" y="5143500"/>
              <a:ext cx="723900" cy="266700"/>
            </a:xfrm>
            <a:prstGeom prst="roundRect">
              <a:avLst>
                <a:gd name="adj" fmla="val 21429"/>
              </a:avLst>
            </a:prstGeom>
            <a:solidFill>
              <a:srgbClr val="059669">
                <a:alpha val="12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38363" y="52354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59669"/>
                  </a:solidFill>
                  <a:latin typeface="Consolas"/>
                  <a:ea typeface="Microsoft YaHei"/>
                  <a:cs typeface="Consolas"/>
                </a:rPr>
                <a:t>INSERT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963150" y="5143500"/>
              <a:ext cx="723900" cy="266700"/>
            </a:xfrm>
            <a:prstGeom prst="roundRect">
              <a:avLst>
                <a:gd name="adj" fmla="val 21429"/>
              </a:avLst>
            </a:prstGeom>
            <a:solidFill>
              <a:srgbClr val="DC2626">
                <a:alpha val="10000"/>
              </a:srgb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124024" y="5235416"/>
              <a:ext cx="4021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C2626"/>
                  </a:solidFill>
                  <a:latin typeface="Consolas"/>
                  <a:ea typeface="Microsoft YaHei"/>
                  <a:cs typeface="Consolas"/>
                </a:rPr>
                <a:t>DELETE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15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38" grpId="0"/>
      <p:bldP spid="54" grpId="0"/>
      <p:bldP spid="64" grpId="0"/>
      <p:bldP spid="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5412819" cy="692467"/>
            <a:chOff x="504825" y="379095"/>
            <a:chExt cx="5412819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 · 关键技术与质量保障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54128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关键技术三：两阶段恢复与并发一致性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33400" y="1866900"/>
            <a:ext cx="3505200" cy="2667000"/>
            <a:chOff x="533400" y="1866900"/>
            <a:chExt cx="35052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533400" y="1866900"/>
              <a:ext cx="35052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1866900"/>
              <a:ext cx="3505200" cy="419100"/>
            </a:xfrm>
            <a:prstGeom prst="roundRect">
              <a:avLst>
                <a:gd name="adj" fmla="val 27273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236" y="2008108"/>
              <a:ext cx="116078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① Preview 预览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094" y="2470547"/>
              <a:ext cx="245536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重新鉴权，校验 </a:t>
              </a:r>
              <a:r>
                <a:rPr lang="zh-CN" sz="862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expectedRecordVersion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094" y="2737247"/>
              <a:ext cx="1596591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计算 Diff 与附件计划（激活 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4394" y="2965847"/>
              <a:ext cx="204281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保留 / 软删除），报告物理文件缺失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0094" y="3232547"/>
              <a:ext cx="19740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签发 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5 分钟 HMAC-SHA256 Token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870" y="3465195"/>
              <a:ext cx="2243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绑定用户 / 项目 / 记录 / 来源 Revision 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870" y="3674745"/>
              <a:ext cx="24051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附件策略 / 版本 / 前后 Hash / 过期 / nonce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95750" y="3200400"/>
            <a:ext cx="209550" cy="1"/>
            <a:chOff x="4095750" y="3200400"/>
            <a:chExt cx="209550" cy="1"/>
          </a:xfrm>
        </p:grpSpPr>
        <p:sp>
          <p:nvSpPr>
            <p:cNvPr id="25" name="Line 25"/>
            <p:cNvSpPr/>
            <p:nvPr/>
          </p:nvSpPr>
          <p:spPr>
            <a:xfrm>
              <a:off x="4095750" y="3200400"/>
              <a:ext cx="20955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343400" y="1866900"/>
            <a:ext cx="3505200" cy="2667000"/>
            <a:chOff x="4343400" y="1866900"/>
            <a:chExt cx="3505200" cy="2667000"/>
          </a:xfrm>
        </p:grpSpPr>
        <p:sp>
          <p:nvSpPr>
            <p:cNvPr id="27" name="Rectangle 27"/>
            <p:cNvSpPr/>
            <p:nvPr/>
          </p:nvSpPr>
          <p:spPr>
            <a:xfrm>
              <a:off x="4343400" y="1866900"/>
              <a:ext cx="35052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43400" y="1866900"/>
              <a:ext cx="3505200" cy="419100"/>
            </a:xfrm>
            <a:prstGeom prst="roundRect">
              <a:avLst>
                <a:gd name="adj" fmla="val 2727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57236" y="2008108"/>
              <a:ext cx="818964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② 用户确认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0094" y="2470547"/>
              <a:ext cx="162223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前端展示内容变更摘要与附件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0094" y="2737247"/>
              <a:ext cx="175527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切换附件策略会</a:t>
              </a:r>
              <a:r>
                <a:rPr lang="zh-CN" sz="9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重新生成预览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0094" y="3003947"/>
              <a:ext cx="18865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Token 过期或版本冲突后，只能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4394" y="3232547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刷新预览再执行，不允许直接提交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905750" y="3200400"/>
            <a:ext cx="209550" cy="1"/>
            <a:chOff x="7905750" y="3200400"/>
            <a:chExt cx="209550" cy="1"/>
          </a:xfrm>
        </p:grpSpPr>
        <p:sp>
          <p:nvSpPr>
            <p:cNvPr id="36" name="Line 36"/>
            <p:cNvSpPr/>
            <p:nvPr/>
          </p:nvSpPr>
          <p:spPr>
            <a:xfrm>
              <a:off x="7905750" y="3200400"/>
              <a:ext cx="20955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153400" y="1866900"/>
            <a:ext cx="3505200" cy="2667000"/>
            <a:chOff x="8153400" y="1866900"/>
            <a:chExt cx="35052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8153400" y="1866900"/>
              <a:ext cx="35052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53400" y="1866900"/>
              <a:ext cx="3505200" cy="419100"/>
            </a:xfrm>
            <a:prstGeom prst="roundRect">
              <a:avLst>
                <a:gd name="adj" fmla="val 27273"/>
              </a:avLst>
            </a:prstGeom>
            <a:solidFill>
              <a:srgbClr val="134E4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67236" y="2008108"/>
              <a:ext cx="1168920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③ Execute 执行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0094" y="2470547"/>
              <a:ext cx="167401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验证 Token 及全部绑定参数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0094" y="2737247"/>
              <a:ext cx="188029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获取记录</a:t>
              </a:r>
              <a:r>
                <a:rPr lang="zh-CN" sz="9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数据库行锁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，重新授权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0094" y="3003947"/>
              <a:ext cx="216158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· 再次检查版本与两侧 canonical hash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0094" y="3270647"/>
              <a:ext cx="21490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DC2626"/>
                  </a:solidFill>
                  <a:latin typeface="Segoe UI"/>
                  <a:ea typeface="Microsoft YaHei"/>
                  <a:cs typeface="Segoe UI"/>
                </a:rPr>
                <a:t>预览后工作副本一旦变化，恢复即拒绝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4724400"/>
            <a:ext cx="5448300" cy="1333500"/>
            <a:chOff x="533400" y="4724400"/>
            <a:chExt cx="5448300" cy="1333500"/>
          </a:xfrm>
        </p:grpSpPr>
        <p:sp>
          <p:nvSpPr>
            <p:cNvPr id="47" name="Rectangle 47"/>
            <p:cNvSpPr/>
            <p:nvPr/>
          </p:nvSpPr>
          <p:spPr>
            <a:xfrm>
              <a:off x="533400" y="4724400"/>
              <a:ext cx="5448300" cy="1333500"/>
            </a:xfrm>
            <a:prstGeom prst="roundRect">
              <a:avLst>
                <a:gd name="adj" fmla="val 8571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38200" y="4968375"/>
              <a:ext cx="152400" cy="159750"/>
              <a:chOff x="838200" y="4968375"/>
              <a:chExt cx="152400" cy="1597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496837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152400" y="70350"/>
                    </a:moveTo>
                    <a:cubicBezTo>
                      <a:pt x="147612" y="35894"/>
                      <a:pt x="120357" y="8904"/>
                      <a:pt x="85855" y="4452"/>
                    </a:cubicBezTo>
                    <a:cubicBezTo>
                      <a:pt x="51354" y="0"/>
                      <a:pt x="18140" y="19188"/>
                      <a:pt x="4762" y="51300"/>
                    </a:cubicBezTo>
                    <a:moveTo>
                      <a:pt x="0" y="13200"/>
                    </a:moveTo>
                    <a:lnTo>
                      <a:pt x="0" y="51300"/>
                    </a:lnTo>
                    <a:lnTo>
                      <a:pt x="38100" y="513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05777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0" y="0"/>
                    </a:moveTo>
                    <a:cubicBezTo>
                      <a:pt x="4788" y="34456"/>
                      <a:pt x="32043" y="61446"/>
                      <a:pt x="66545" y="65898"/>
                    </a:cubicBezTo>
                    <a:cubicBezTo>
                      <a:pt x="101046" y="70350"/>
                      <a:pt x="134260" y="51162"/>
                      <a:pt x="147638" y="19050"/>
                    </a:cubicBezTo>
                    <a:moveTo>
                      <a:pt x="152400" y="57150"/>
                    </a:moveTo>
                    <a:lnTo>
                      <a:pt x="152400" y="19050"/>
                    </a:lnTo>
                    <a:lnTo>
                      <a:pt x="114300" y="190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28712" y="49934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幂等与事务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8194" y="5328047"/>
              <a:ext cx="29241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Idempotency-Key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与 Payload Hash 一同保存：相同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194" y="5556647"/>
              <a:ext cx="31804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请求重试返回原结果，同 Key 不同请求报冲突；写操作、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8194" y="5785247"/>
              <a:ext cx="314920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附件状态、领域事件与审计在</a:t>
              </a:r>
              <a:r>
                <a:rPr lang="zh-CN" sz="9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同一事务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，失败整体回滚。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10300" y="4724400"/>
            <a:ext cx="5448300" cy="1333500"/>
            <a:chOff x="6210300" y="4724400"/>
            <a:chExt cx="5448300" cy="1333500"/>
          </a:xfrm>
        </p:grpSpPr>
        <p:sp>
          <p:nvSpPr>
            <p:cNvPr id="56" name="Rectangle 56"/>
            <p:cNvSpPr/>
            <p:nvPr/>
          </p:nvSpPr>
          <p:spPr>
            <a:xfrm>
              <a:off x="6210300" y="4724400"/>
              <a:ext cx="5448300" cy="1333500"/>
            </a:xfrm>
            <a:prstGeom prst="roundRect">
              <a:avLst>
                <a:gd name="adj" fmla="val 8571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515100" y="4962525"/>
              <a:ext cx="152400" cy="180975"/>
              <a:chOff x="6515100" y="4962525"/>
              <a:chExt cx="152400" cy="18097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572250" y="51054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15100" y="51244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571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610350" y="51244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34150" y="496252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lnTo>
                      <a:pt x="38100" y="95250"/>
                    </a:lnTo>
                    <a:lnTo>
                      <a:pt x="9525" y="95250"/>
                    </a:lnTo>
                    <a:cubicBezTo>
                      <a:pt x="4264" y="95250"/>
                      <a:pt x="0" y="90986"/>
                      <a:pt x="0" y="857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104775" y="0"/>
                    </a:lnTo>
                    <a:cubicBezTo>
                      <a:pt x="110036" y="0"/>
                      <a:pt x="114300" y="4264"/>
                      <a:pt x="114300" y="9525"/>
                    </a:cubicBezTo>
                    <a:lnTo>
                      <a:pt x="114300" y="85725"/>
                    </a:lnTo>
                    <a:cubicBezTo>
                      <a:pt x="114300" y="90986"/>
                      <a:pt x="110036" y="95250"/>
                      <a:pt x="104775" y="95250"/>
                    </a:cubicBezTo>
                    <a:lnTo>
                      <a:pt x="76200" y="95250"/>
                    </a:lnTo>
                    <a:lnTo>
                      <a:pt x="57150" y="1143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805612" y="499348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审计链不被破坏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5094" y="5328047"/>
              <a:ext cx="267414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已有 Revision、附件快照和审核结论</a:t>
              </a:r>
              <a:r>
                <a:rPr lang="zh-CN" sz="93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保持不变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5094" y="5556647"/>
              <a:ext cx="227409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恢复后的内容只有</a:t>
              </a:r>
              <a:r>
                <a:rPr lang="zh-CN" sz="938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再次提交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时才形成新的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5094" y="5785247"/>
              <a:ext cx="18865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Revision，历史始终完整可追溯。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16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35" grpId="0"/>
      <p:bldP spid="37" grpId="0"/>
      <p:bldP spid="46" grpId="0"/>
      <p:bldP spid="55" grpId="0"/>
      <p:bldP spid="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4825" y="379095"/>
            <a:ext cx="4445128" cy="649605"/>
            <a:chOff x="504825" y="379095"/>
            <a:chExt cx="4445128" cy="649605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 · 关键技术与质量保障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4445128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关键技术四：</a:t>
              </a:r>
              <a:r>
                <a:rPr lang="zh-CN" altLang="en-US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可信 </a:t>
              </a:r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Agent Runtime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866900"/>
            <a:ext cx="5448300" cy="1028700"/>
            <a:chOff x="533400" y="1866900"/>
            <a:chExt cx="5448300" cy="1028700"/>
          </a:xfrm>
        </p:grpSpPr>
        <p:sp>
          <p:nvSpPr>
            <p:cNvPr id="20" name="Rectangle 20"/>
            <p:cNvSpPr/>
            <p:nvPr/>
          </p:nvSpPr>
          <p:spPr>
            <a:xfrm>
              <a:off x="533400" y="186690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14375" y="200977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1166" y="21031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9189" y="20733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异步执行与状态机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9146" y="2402443"/>
              <a:ext cx="331131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API 创建 </a:t>
              </a:r>
              <a:r>
                <a:rPr lang="zh-CN" sz="788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QUEUED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任务后立即返回，Worker 原子领取；状态仅按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9146" y="2611993"/>
              <a:ext cx="222496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QUEUED → RUNNING → 五种终态合法迁移</a:t>
              </a:r>
              <a:r>
                <a:rPr lang="zh-CN" altLang="en-US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  <a:endParaRPr lang="zh-CN" sz="862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2990850"/>
            <a:ext cx="5448300" cy="1028700"/>
            <a:chOff x="533400" y="2990850"/>
            <a:chExt cx="5448300" cy="1028700"/>
          </a:xfrm>
        </p:grpSpPr>
        <p:sp>
          <p:nvSpPr>
            <p:cNvPr id="27" name="Rectangle 27"/>
            <p:cNvSpPr/>
            <p:nvPr/>
          </p:nvSpPr>
          <p:spPr>
            <a:xfrm>
              <a:off x="533400" y="299085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14375" y="313372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1166" y="32270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189" y="3197304"/>
              <a:ext cx="109350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模型与业务解耦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9146" y="3526393"/>
              <a:ext cx="352984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AgentModelClient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统一接口：Fake Provider 支持离线确定性测试，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9146" y="3735943"/>
              <a:ext cx="363911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OpenAI-compatible Adapter 接入真实模型，主循环不依赖具体厂商。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4114800"/>
            <a:ext cx="5448300" cy="1028700"/>
            <a:chOff x="533400" y="4114800"/>
            <a:chExt cx="5448300" cy="1028700"/>
          </a:xfrm>
        </p:grpSpPr>
        <p:sp>
          <p:nvSpPr>
            <p:cNvPr id="34" name="Rectangle 34"/>
            <p:cNvSpPr/>
            <p:nvPr/>
          </p:nvSpPr>
          <p:spPr>
            <a:xfrm>
              <a:off x="533400" y="411480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14375" y="425767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1166" y="43510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189" y="43212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最小权限工具系统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9146" y="4650343"/>
              <a:ext cx="361610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AgentTool SPI 只注册通过校验的 </a:t>
              </a:r>
              <a:r>
                <a:rPr lang="zh-CN" sz="86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READ_ONLY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 工具；Prompt 白名单、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146" y="4859893"/>
              <a:ext cx="382888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参数 Schema 校验与逐次对象级授权；模型不能覆盖服务端注入的上下文。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5238750"/>
            <a:ext cx="5448300" cy="1028700"/>
            <a:chOff x="533400" y="5238750"/>
            <a:chExt cx="5448300" cy="1028700"/>
          </a:xfrm>
        </p:grpSpPr>
        <p:sp>
          <p:nvSpPr>
            <p:cNvPr id="41" name="Rectangle 41"/>
            <p:cNvSpPr/>
            <p:nvPr/>
          </p:nvSpPr>
          <p:spPr>
            <a:xfrm>
              <a:off x="533400" y="523875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14375" y="538162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1166" y="54749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9189" y="5445204"/>
              <a:ext cx="139804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资源预算与明确失败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9146" y="5774293"/>
              <a:ext cx="381738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总时长、模型次数、步骤数、工具次数与修复轮次均有上限；取消、超时、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9146" y="5983843"/>
              <a:ext cx="312729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未知工具、非法参数、超限</a:t>
              </a:r>
              <a:r>
                <a:rPr lang="zh-CN" sz="8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各有独立状态，不会包装成成功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10300" y="1866900"/>
            <a:ext cx="5448300" cy="1028700"/>
            <a:chOff x="6210300" y="1866900"/>
            <a:chExt cx="5448300" cy="1028700"/>
          </a:xfrm>
        </p:grpSpPr>
        <p:sp>
          <p:nvSpPr>
            <p:cNvPr id="48" name="Rectangle 48"/>
            <p:cNvSpPr/>
            <p:nvPr/>
          </p:nvSpPr>
          <p:spPr>
            <a:xfrm>
              <a:off x="6210300" y="186690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391275" y="200977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8066" y="21031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6089" y="2073354"/>
              <a:ext cx="202234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Schema + Evidence 双重校验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6046" y="2402443"/>
              <a:ext cx="347233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最终 JSON 先验证结构，再验证引用的项目、记录、版本或审核是否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6046" y="2611993"/>
              <a:ext cx="363911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真实且可访问；失败只允许有限次修复，</a:t>
              </a:r>
              <a:r>
                <a:rPr lang="zh-CN" sz="8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仍不合法则不生成 Artifact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10300" y="2990850"/>
            <a:ext cx="5448300" cy="1028700"/>
            <a:chOff x="6210300" y="2990850"/>
            <a:chExt cx="5448300" cy="1028700"/>
          </a:xfrm>
        </p:grpSpPr>
        <p:sp>
          <p:nvSpPr>
            <p:cNvPr id="55" name="Rectangle 55"/>
            <p:cNvSpPr/>
            <p:nvPr/>
          </p:nvSpPr>
          <p:spPr>
            <a:xfrm>
              <a:off x="6210300" y="299085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391275" y="313372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88066" y="32270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06089" y="3197304"/>
              <a:ext cx="125338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Trace 与原子成功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6046" y="3526393"/>
              <a:ext cx="348384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Trace 只保存经裁剪、白名单与脱敏的摘要、耗时与 Token，不保存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6046" y="3735943"/>
              <a:ext cx="350109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隐藏推理；Artifact 写入与 Run 置为 SUCCEEDED 在</a:t>
              </a:r>
              <a:r>
                <a:rPr lang="zh-CN" sz="86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同一事务</a:t>
              </a:r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完成。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210300" y="4114800"/>
            <a:ext cx="5448300" cy="1028700"/>
            <a:chOff x="6210300" y="4114800"/>
            <a:chExt cx="5448300" cy="1028700"/>
          </a:xfrm>
        </p:grpSpPr>
        <p:sp>
          <p:nvSpPr>
            <p:cNvPr id="62" name="Rectangle 62"/>
            <p:cNvSpPr/>
            <p:nvPr/>
          </p:nvSpPr>
          <p:spPr>
            <a:xfrm>
              <a:off x="6210300" y="4114800"/>
              <a:ext cx="5448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391275" y="4257675"/>
              <a:ext cx="285750" cy="28575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88066" y="43510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06089" y="4321254"/>
              <a:ext cx="94123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前端可观察性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6046" y="4650343"/>
              <a:ext cx="2885405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轮询展示状态；支持取消、重跑、Evidence 跳转与 Trace </a:t>
              </a:r>
              <a:r>
                <a:rPr lang="zh-CN" altLang="en-US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  <a:endParaRPr lang="zh-CN" sz="862" dirty="0">
                <a:solidFill>
                  <a:srgbClr val="55606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6046" y="4859893"/>
              <a:ext cx="11060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17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40" grpId="0"/>
      <p:bldP spid="47" grpId="0"/>
      <p:bldP spid="54" grpId="0"/>
      <p:bldP spid="61" grpId="0"/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11166158" cy="692467"/>
            <a:chOff x="504825" y="379095"/>
            <a:chExt cx="11166158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4405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04 · 关键技术与质量保障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44677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测试与质量控制：五层保障体系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305925" y="75199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覆盖需求、代码、接口、系统与用户体验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333500"/>
            <a:ext cx="11125200" cy="914400"/>
            <a:chOff x="533400" y="1333500"/>
            <a:chExt cx="11125200" cy="914400"/>
          </a:xfrm>
        </p:grpSpPr>
        <p:sp>
          <p:nvSpPr>
            <p:cNvPr id="8" name="Rectangle 8"/>
            <p:cNvSpPr/>
            <p:nvPr/>
          </p:nvSpPr>
          <p:spPr>
            <a:xfrm>
              <a:off x="533400" y="1333500"/>
              <a:ext cx="1112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81050" y="16002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7785" y="17345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4460" y="1565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软件评审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7794" y="1860947"/>
              <a:ext cx="620583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每轮迭代后从 UI 交互、业务逻辑和用户体验开展评审，结合真实用户反馈持续改进，保证需求的正确性和完整性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429750" y="16383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18796" y="1745218"/>
              <a:ext cx="11269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迭代评审 + 用户反馈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2343150"/>
            <a:ext cx="11125200" cy="914400"/>
            <a:chOff x="533400" y="2343150"/>
            <a:chExt cx="11125200" cy="914400"/>
          </a:xfrm>
        </p:grpSpPr>
        <p:sp>
          <p:nvSpPr>
            <p:cNvPr id="16" name="Rectangle 16"/>
            <p:cNvSpPr/>
            <p:nvPr/>
          </p:nvSpPr>
          <p:spPr>
            <a:xfrm>
              <a:off x="533400" y="2343150"/>
              <a:ext cx="1112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81050" y="260985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785" y="2744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4460" y="25755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单元、组件与集成测试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7794" y="2870597"/>
              <a:ext cx="622458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后端覆盖领域策略、Service、持久化适配器、事务与 API 集成；前端验证组件渲染、交互、页面流程和状态边界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429750" y="264795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66733" y="2754868"/>
              <a:ext cx="83103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JUnit · Vitest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3352800"/>
            <a:ext cx="11125200" cy="914400"/>
            <a:chOff x="533400" y="3352800"/>
            <a:chExt cx="11125200" cy="914400"/>
          </a:xfrm>
        </p:grpSpPr>
        <p:sp>
          <p:nvSpPr>
            <p:cNvPr id="24" name="Rectangle 24"/>
            <p:cNvSpPr/>
            <p:nvPr/>
          </p:nvSpPr>
          <p:spPr>
            <a:xfrm>
              <a:off x="533400" y="3352800"/>
              <a:ext cx="1112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81050" y="36195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785" y="37538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4460" y="3585210"/>
              <a:ext cx="1156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API 与架构测试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97794" y="3880247"/>
              <a:ext cx="703718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前端拦截 fetch 验证请求构造、响应解析、认证与异常处理；后端自动检查 Controller 只依赖接口、SQL 不越过基础设施边界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29750" y="36576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40299" y="3764518"/>
              <a:ext cx="128390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LayerDependencyTest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4362450"/>
            <a:ext cx="11125200" cy="914400"/>
            <a:chOff x="533400" y="4362450"/>
            <a:chExt cx="11125200" cy="914400"/>
          </a:xfrm>
        </p:grpSpPr>
        <p:sp>
          <p:nvSpPr>
            <p:cNvPr id="32" name="Rectangle 32"/>
            <p:cNvSpPr/>
            <p:nvPr/>
          </p:nvSpPr>
          <p:spPr>
            <a:xfrm>
              <a:off x="533400" y="4362450"/>
              <a:ext cx="1112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81050" y="462915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785" y="47634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94460" y="4594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系统测试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97794" y="4889897"/>
              <a:ext cx="551199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覆盖认证授权、审核流程、并发冲突、幂等控制、版本 Diff 与恢复，以及 Agent 的执行与失败处理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429750" y="466725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85954" y="4774168"/>
              <a:ext cx="139259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Playwright · 8 E2E Spec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5372100"/>
            <a:ext cx="11125200" cy="914400"/>
            <a:chOff x="533400" y="5372100"/>
            <a:chExt cx="11125200" cy="914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372100"/>
              <a:ext cx="1112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81050" y="56388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7785" y="5773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94460" y="56045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兼容性与界面测试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97794" y="5899547"/>
              <a:ext cx="688717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验证 Chrome、Firefox、Edge 等浏览器环境，通过自动化测试和人工评审检查界面渲染、富文本编辑、附件预览与错误提示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429750" y="56769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70859" y="5783818"/>
              <a:ext cx="142278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Chrome · Firefox · Edge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3875" y="6586538"/>
            <a:ext cx="11144250" cy="152400"/>
            <a:chOff x="523875" y="6586538"/>
            <a:chExt cx="11144250" cy="152400"/>
          </a:xfrm>
        </p:grpSpPr>
        <p:sp>
          <p:nvSpPr>
            <p:cNvPr id="48" name="TextBox 48"/>
            <p:cNvSpPr txBox="1"/>
            <p:nvPr/>
          </p:nvSpPr>
          <p:spPr>
            <a:xfrm>
              <a:off x="523875" y="6586538"/>
              <a:ext cx="16942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BioNote · 软件工程实践课程最终答辩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14033" y="6586538"/>
              <a:ext cx="3540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AA5AE"/>
                  </a:solidFill>
                  <a:latin typeface="Segoe UI"/>
                  <a:ea typeface="Microsoft YaHei"/>
                  <a:cs typeface="Segoe UI"/>
                </a:rPr>
                <a:t>18 / 21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31" grpId="0"/>
      <p:bldP spid="39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4825" y="379095"/>
            <a:ext cx="2892504" cy="692467"/>
            <a:chOff x="504825" y="379095"/>
            <a:chExt cx="2892504" cy="692467"/>
          </a:xfrm>
        </p:grpSpPr>
        <p:sp>
          <p:nvSpPr>
            <p:cNvPr id="3" name="TextBox 3"/>
            <p:cNvSpPr txBox="1"/>
            <p:nvPr/>
          </p:nvSpPr>
          <p:spPr>
            <a:xfrm>
              <a:off x="521970" y="379095"/>
              <a:ext cx="1188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05 · 项目管理与总结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825" y="614362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团队协同与经验教训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9906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0541" y="1243251"/>
            <a:ext cx="6101477" cy="205740"/>
            <a:chOff x="520541" y="1243251"/>
            <a:chExt cx="6101477" cy="205740"/>
          </a:xfrm>
        </p:grpSpPr>
        <p:sp>
          <p:nvSpPr>
            <p:cNvPr id="8" name="TextBox 8"/>
            <p:cNvSpPr txBox="1"/>
            <p:nvPr/>
          </p:nvSpPr>
          <p:spPr>
            <a:xfrm>
              <a:off x="520541" y="1243251"/>
              <a:ext cx="61014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项目初期曾出现</a:t>
              </a:r>
              <a:r>
                <a:rPr lang="zh-CN" sz="1012" b="1" dirty="0">
                  <a:solidFill>
                    <a:srgbClr val="DC2626"/>
                  </a:solidFill>
                  <a:latin typeface="Segoe UI"/>
                  <a:ea typeface="Microsoft YaHei"/>
                  <a:cs typeface="Segoe UI"/>
                </a:rPr>
                <a:t>文档粒度不一致、任务边界重叠、集中集成冲突多</a:t>
              </a:r>
              <a:r>
                <a:rPr lang="zh-CN" sz="1012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的问题，复盘后形成以下协同机制：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3450" y="1981200"/>
            <a:ext cx="9525" cy="3771900"/>
            <a:chOff x="933450" y="1981200"/>
            <a:chExt cx="9525" cy="3771900"/>
          </a:xfrm>
        </p:grpSpPr>
        <p:sp>
          <p:nvSpPr>
            <p:cNvPr id="10" name="Line 10"/>
            <p:cNvSpPr/>
            <p:nvPr/>
          </p:nvSpPr>
          <p:spPr>
            <a:xfrm>
              <a:off x="933450" y="19812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28575" cap="rnd">
              <a:solidFill>
                <a:srgbClr val="0F766E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42950" y="1638300"/>
            <a:ext cx="5695950" cy="876300"/>
            <a:chOff x="742950" y="1638300"/>
            <a:chExt cx="5695950" cy="876300"/>
          </a:xfrm>
        </p:grpSpPr>
        <p:sp>
          <p:nvSpPr>
            <p:cNvPr id="12" name="Ellipse 12"/>
            <p:cNvSpPr/>
            <p:nvPr/>
          </p:nvSpPr>
          <p:spPr>
            <a:xfrm>
              <a:off x="742950" y="17907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5983" y="19330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1638300"/>
              <a:ext cx="51054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33500" y="1638300"/>
              <a:ext cx="47625" cy="8763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85436" y="1836658"/>
              <a:ext cx="680609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增量迭代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88294" y="2108597"/>
              <a:ext cx="3331040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每轮交付可运行版本，</a:t>
              </a:r>
              <a:r>
                <a:rPr lang="zh-CN" altLang="en-US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参考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真实用户反馈</a:t>
              </a:r>
              <a:r>
                <a:rPr lang="zh-CN" altLang="en-US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后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进入下一轮</a:t>
              </a:r>
              <a:r>
                <a:rPr lang="zh-CN" altLang="en-US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开发</a:t>
              </a:r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950" y="2781300"/>
            <a:ext cx="5695950" cy="876300"/>
            <a:chOff x="742950" y="2781300"/>
            <a:chExt cx="5695950" cy="876300"/>
          </a:xfrm>
        </p:grpSpPr>
        <p:sp>
          <p:nvSpPr>
            <p:cNvPr id="19" name="Ellipse 19"/>
            <p:cNvSpPr/>
            <p:nvPr/>
          </p:nvSpPr>
          <p:spPr>
            <a:xfrm>
              <a:off x="742950" y="29337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983" y="30760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33500" y="2781300"/>
              <a:ext cx="51054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33500" y="2781300"/>
              <a:ext cx="47625" cy="8763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5436" y="2979658"/>
              <a:ext cx="1242167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Contract-first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88294" y="3251597"/>
              <a:ext cx="312745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先明确公共 DTO、状态、API 与数据库迁移，再并行实现。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2950" y="3924300"/>
            <a:ext cx="5695950" cy="876300"/>
            <a:chOff x="742950" y="3924300"/>
            <a:chExt cx="5695950" cy="876300"/>
          </a:xfrm>
        </p:grpSpPr>
        <p:sp>
          <p:nvSpPr>
            <p:cNvPr id="26" name="Ellipse 26"/>
            <p:cNvSpPr/>
            <p:nvPr/>
          </p:nvSpPr>
          <p:spPr>
            <a:xfrm>
              <a:off x="742950" y="40767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983" y="42190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333500" y="3924300"/>
              <a:ext cx="51054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33500" y="3924300"/>
              <a:ext cx="47625" cy="8763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85436" y="4122658"/>
              <a:ext cx="843379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合并责任制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88294" y="4394597"/>
              <a:ext cx="37742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高冲突模块设主负责人，单一合并责任、多人共同评审，小步合并。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2950" y="5067300"/>
            <a:ext cx="5695950" cy="876300"/>
            <a:chOff x="742950" y="5067300"/>
            <a:chExt cx="5695950" cy="876300"/>
          </a:xfrm>
        </p:grpSpPr>
        <p:sp>
          <p:nvSpPr>
            <p:cNvPr id="33" name="Ellipse 33"/>
            <p:cNvSpPr/>
            <p:nvPr/>
          </p:nvSpPr>
          <p:spPr>
            <a:xfrm>
              <a:off x="742950" y="5219700"/>
              <a:ext cx="381000" cy="381000"/>
            </a:xfrm>
            <a:prstGeom prst="ellipse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983" y="53620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33500" y="5067300"/>
              <a:ext cx="51054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CE4E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33500" y="5067300"/>
              <a:ext cx="47625" cy="8763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85436" y="5265658"/>
              <a:ext cx="143749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Definition of Done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8294" y="5537597"/>
              <a:ext cx="356175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5606B"/>
                  </a:solidFill>
                  <a:latin typeface="Segoe UI"/>
                  <a:ea typeface="Microsoft YaHei"/>
                  <a:cs typeface="Segoe UI"/>
                </a:rPr>
                <a:t>实现 + 接口/迁移 + 测试 + 演示步骤 + 已知限制 = 模块完成包。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19900" y="1581150"/>
            <a:ext cx="4838700" cy="4400550"/>
            <a:chOff x="6819900" y="1581150"/>
            <a:chExt cx="4838700" cy="4400550"/>
          </a:xfrm>
        </p:grpSpPr>
        <p:sp>
          <p:nvSpPr>
            <p:cNvPr id="40" name="Rectangle 40"/>
            <p:cNvSpPr/>
            <p:nvPr/>
          </p:nvSpPr>
          <p:spPr>
            <a:xfrm>
              <a:off x="6819900" y="1581150"/>
              <a:ext cx="4838700" cy="4400550"/>
            </a:xfrm>
            <a:prstGeom prst="roundRect">
              <a:avLst>
                <a:gd name="adj" fmla="val 2597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153275" y="1857375"/>
              <a:ext cx="171450" cy="171450"/>
              <a:chOff x="7153275" y="1857375"/>
              <a:chExt cx="171450" cy="1714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53275" y="18573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87337" y="18954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17092" y="19907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52360" y="18802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经验教训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112318" y="2390299"/>
              <a:ext cx="2664142" cy="648176"/>
              <a:chOff x="7112318" y="2390299"/>
              <a:chExt cx="2664142" cy="64817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7112318" y="2390299"/>
                <a:ext cx="1642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D97706"/>
                    </a:solidFill>
                    <a:latin typeface="Segoe UI"/>
                    <a:ea typeface="Microsoft YaHei"/>
                    <a:cs typeface="Segoe UI"/>
                  </a:rPr>
                  <a:t>① 可运行版本胜于文字描述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113270" y="2646045"/>
                <a:ext cx="26631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真实需求必须通过可运行版本验证，用户看到实际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113270" y="2855595"/>
                <a:ext cx="21831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流程后的反馈，比早期文字描述更准确。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12318" y="3342799"/>
              <a:ext cx="2544127" cy="648176"/>
              <a:chOff x="7112318" y="3342799"/>
              <a:chExt cx="2544127" cy="648176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7112318" y="3342799"/>
                <a:ext cx="19155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D97706"/>
                    </a:solidFill>
                    <a:latin typeface="Segoe UI"/>
                    <a:ea typeface="Microsoft YaHei"/>
                    <a:cs typeface="Segoe UI"/>
                  </a:rPr>
                  <a:t>② 协作靠机制，不靠「多沟通」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113270" y="3598545"/>
                <a:ext cx="25431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稳定接口、明确所有权、依赖顺序与完成标准，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13270" y="3808095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比增加沟通频次更能减少冲突。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7112318" y="4295299"/>
              <a:ext cx="2670143" cy="648176"/>
              <a:chOff x="7112318" y="4295299"/>
              <a:chExt cx="2670143" cy="64817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7112318" y="4295299"/>
                <a:ext cx="1642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D97706"/>
                    </a:solidFill>
                    <a:latin typeface="Segoe UI"/>
                    <a:ea typeface="Microsoft YaHei"/>
                    <a:cs typeface="Segoe UI"/>
                  </a:rPr>
                  <a:t>③ 高风险功能要测异常路径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113270" y="4551045"/>
                <a:ext cx="26691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权限、恢复、Agent 等功能不仅测正常路径，还要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113270" y="4760595"/>
                <a:ext cx="25431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覆盖越权、冲突、重复提交、超时与非法输出。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7112318" y="5247799"/>
              <a:ext cx="2664142" cy="648176"/>
              <a:chOff x="7112318" y="5247799"/>
              <a:chExt cx="2664142" cy="648176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7112318" y="5247799"/>
                <a:ext cx="1369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D97706"/>
                    </a:solidFill>
                    <a:latin typeface="Segoe UI"/>
                    <a:ea typeface="Microsoft YaHei"/>
                    <a:cs typeface="Segoe UI"/>
                  </a:rPr>
                  <a:t>④ 架构约束尽量自动化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113270" y="5503545"/>
                <a:ext cx="26631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用架构测试自动检查分层边界，防止约定在迭代中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113270" y="57130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606B"/>
                    </a:solidFill>
                    <a:latin typeface="Segoe UI"/>
                    <a:ea typeface="Microsoft YaHei"/>
                    <a:cs typeface="Segoe UI"/>
                  </a:rPr>
                  <a:t>逐渐退化。</a:t>
                </a:r>
              </a:p>
            </p:txBody>
          </p:sp>
        </p:grpSp>
      </p:grpSp>
      <p:sp>
        <p:nvSpPr>
          <p:cNvPr id="64" name="TextBox 64"/>
          <p:cNvSpPr txBox="1"/>
          <p:nvPr/>
        </p:nvSpPr>
        <p:spPr>
          <a:xfrm>
            <a:off x="11314033" y="6586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5AE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25" grpId="0"/>
      <p:bldP spid="32" grpId="0"/>
      <p:bldP spid="39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34E4A"/>
                </a:gs>
                <a:gs pos="100000">
                  <a:srgbClr val="0F766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8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239250" y="-190500"/>
            <a:ext cx="2857500" cy="2857500"/>
            <a:chOff x="9239250" y="-190500"/>
            <a:chExt cx="2857500" cy="2857500"/>
          </a:xfrm>
        </p:grpSpPr>
        <p:sp>
          <p:nvSpPr>
            <p:cNvPr id="5" name="Ellipse 5"/>
            <p:cNvSpPr/>
            <p:nvPr/>
          </p:nvSpPr>
          <p:spPr>
            <a:xfrm>
              <a:off x="9239250" y="-1905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715500" y="285750"/>
              <a:ext cx="1905000" cy="1905000"/>
            </a:xfrm>
            <a:prstGeom prst="ellipse">
              <a:avLst/>
            </a:prstGeom>
            <a:noFill/>
            <a:ln w="9525">
              <a:solidFill>
                <a:srgbClr val="FFFFFF">
                  <a:alpha val="8000"/>
                </a:srgbClr>
              </a:solidFill>
              <a:custDash>
                <a:ds d="500000" sp="5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484075" y="966788"/>
              <a:ext cx="367851" cy="542925"/>
              <a:chOff x="10484075" y="966788"/>
              <a:chExt cx="367851" cy="5429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577512" y="966788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607675" y="1147762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84075" y="966788"/>
                <a:ext cx="367851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367851" h="542925">
                    <a:moveTo>
                      <a:pt x="123600" y="0"/>
                    </a:moveTo>
                    <a:lnTo>
                      <a:pt x="123600" y="180975"/>
                    </a:lnTo>
                    <a:lnTo>
                      <a:pt x="2950" y="512762"/>
                    </a:lnTo>
                    <a:cubicBezTo>
                      <a:pt x="0" y="518698"/>
                      <a:pt x="8" y="525674"/>
                      <a:pt x="2972" y="531603"/>
                    </a:cubicBezTo>
                    <a:cubicBezTo>
                      <a:pt x="5937" y="537532"/>
                      <a:pt x="11513" y="541724"/>
                      <a:pt x="18032" y="542925"/>
                    </a:cubicBezTo>
                    <a:lnTo>
                      <a:pt x="349819" y="542925"/>
                    </a:lnTo>
                    <a:cubicBezTo>
                      <a:pt x="356338" y="541724"/>
                      <a:pt x="361914" y="537532"/>
                      <a:pt x="364878" y="531603"/>
                    </a:cubicBezTo>
                    <a:cubicBezTo>
                      <a:pt x="367843" y="525674"/>
                      <a:pt x="367851" y="518698"/>
                      <a:pt x="364900" y="512762"/>
                    </a:cubicBezTo>
                    <a:lnTo>
                      <a:pt x="244250" y="180975"/>
                    </a:lnTo>
                    <a:lnTo>
                      <a:pt x="244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3799798" y="2250177"/>
            <a:ext cx="4592340" cy="2053688"/>
            <a:chOff x="3799798" y="2250177"/>
            <a:chExt cx="4592340" cy="2053688"/>
          </a:xfrm>
        </p:grpSpPr>
        <p:sp>
          <p:nvSpPr>
            <p:cNvPr id="14" name="TextBox 14"/>
            <p:cNvSpPr txBox="1"/>
            <p:nvPr/>
          </p:nvSpPr>
          <p:spPr>
            <a:xfrm>
              <a:off x="3799798" y="2250177"/>
              <a:ext cx="459234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altLang="en-US" sz="7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感谢聆听</a:t>
              </a:r>
              <a:endParaRPr lang="zh-CN" sz="7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94239" y="3811422"/>
              <a:ext cx="1474764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BioNote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95968" y="3424714"/>
              <a:ext cx="64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2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59948" y="5334000"/>
            <a:ext cx="3472104" cy="503612"/>
            <a:chOff x="4359948" y="5334000"/>
            <a:chExt cx="3472104" cy="503612"/>
          </a:xfrm>
        </p:grpSpPr>
        <p:sp>
          <p:nvSpPr>
            <p:cNvPr id="33" name="Line 33"/>
            <p:cNvSpPr/>
            <p:nvPr/>
          </p:nvSpPr>
          <p:spPr>
            <a:xfrm>
              <a:off x="5334000" y="533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59948" y="5618321"/>
              <a:ext cx="3472104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以上是我们的全部汇报，恳请老师批评指正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5105</Words>
  <Application>Microsoft Office PowerPoint</Application>
  <PresentationFormat>宽屏</PresentationFormat>
  <Paragraphs>443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Victor Smith</cp:lastModifiedBy>
  <cp:revision>12</cp:revision>
  <dcterms:created xsi:type="dcterms:W3CDTF">2026-07-30T20:20:38Z</dcterms:created>
  <dcterms:modified xsi:type="dcterms:W3CDTF">2026-07-31T07:07:11Z</dcterms:modified>
  <cp:category/>
  <cp:contentStatus/>
  <dc:language/>
</cp:coreProperties>
</file>